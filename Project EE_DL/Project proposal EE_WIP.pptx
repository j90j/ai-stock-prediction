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2" r:id="rId4"/>
    <p:sldId id="258" r:id="rId5"/>
    <p:sldId id="259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2D90C"/>
    <a:srgbClr val="4BEC0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285"/>
    <p:restoredTop sz="94663"/>
  </p:normalViewPr>
  <p:slideViewPr>
    <p:cSldViewPr snapToGrid="0">
      <p:cViewPr varScale="1">
        <p:scale>
          <a:sx n="130" d="100"/>
          <a:sy n="130" d="100"/>
        </p:scale>
        <p:origin x="183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6678F2-1604-3BAE-26C2-DEE4A3F78B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9CFA15F-6671-85FF-0F85-CA645BA0D59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BAC172-0756-1D86-AB93-6BC2878212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15DF9E-C300-CD47-9078-B6282A73C201}" type="datetimeFigureOut">
              <a:rPr lang="en-US" smtClean="0"/>
              <a:t>11/12/25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EF6811-88A5-0C04-9642-FFDF5720D6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20C1B7-0940-8703-FD88-29D0F5B726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6F1E5-6177-7643-9DA7-6B86FFB5D8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62150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811856-4B13-0F4C-4AB1-FDC3DC4343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4404A0-91A1-B752-7C24-67C5E3D4A9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6839D2-8DC7-A2F3-0AA0-80696D3395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15DF9E-C300-CD47-9078-B6282A73C201}" type="datetimeFigureOut">
              <a:rPr lang="en-US" smtClean="0"/>
              <a:t>11/12/25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A49581-73DE-12FF-A6D4-3AEFDA6BA2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E901C7-B630-03CE-510A-CB934BA96A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6F1E5-6177-7643-9DA7-6B86FFB5D8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8089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4C4733-FA73-0F5F-7AB3-BE79C5466B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F4598E-5AD0-383C-EB26-F8022F5F72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1FE20E-260E-0172-AC10-7ACCCB00C5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15DF9E-C300-CD47-9078-B6282A73C201}" type="datetimeFigureOut">
              <a:rPr lang="en-US" smtClean="0"/>
              <a:t>11/12/25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9680BE-3F8D-9D09-E51D-7E6F909EF8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BD11CE-F106-0B37-8E8C-062F490DFC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6F1E5-6177-7643-9DA7-6B86FFB5D8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56622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171660-B498-C475-E384-14DEAE6187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D76138-A4DE-CC8D-A673-8BE73C8FEA1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7233B24-7B34-64E9-115E-8416CDA23B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12A1EC-37AF-04BB-2122-3170CB8471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15DF9E-C300-CD47-9078-B6282A73C201}" type="datetimeFigureOut">
              <a:rPr lang="en-US" smtClean="0"/>
              <a:t>11/12/25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E42B43B-44B2-E2AD-57CB-0E527511B1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365123-CC3F-6F34-87FE-F3A4EEDBD1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6F1E5-6177-7643-9DA7-6B86FFB5D8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35161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3EDB3D-213F-C10C-3455-33D9F76F16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C2022B-FA67-B09C-D36C-60A1B8091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BCC13BE-1617-60EB-8AB2-BFFE58AF0B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D831CDB-BD65-77E1-97CF-C174D1AF1DE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1B861E6-2FC5-40B1-AD80-1FFD496AE39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F9C13A7-748C-B87C-8057-F6C976923D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15DF9E-C300-CD47-9078-B6282A73C201}" type="datetimeFigureOut">
              <a:rPr lang="en-US" smtClean="0"/>
              <a:t>11/12/25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4962086-8A4B-E236-85A8-10FC21E086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81FC586-2E7B-D1DD-CAC6-FD0DA702B8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6F1E5-6177-7643-9DA7-6B86FFB5D8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75465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2BD4B8-0A7A-9FFD-C0EC-27E59F3675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384B758-BA5F-014C-9524-33A0E17D1B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15DF9E-C300-CD47-9078-B6282A73C201}" type="datetimeFigureOut">
              <a:rPr lang="en-US" smtClean="0"/>
              <a:t>11/12/25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4DD628A-E983-F63C-DE33-1005A572CD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93B91E2-A358-9A16-40F6-600031B238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6F1E5-6177-7643-9DA7-6B86FFB5D8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55304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650776E-5423-4791-0A89-11DF856B57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15DF9E-C300-CD47-9078-B6282A73C201}" type="datetimeFigureOut">
              <a:rPr lang="en-US" smtClean="0"/>
              <a:t>11/12/25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FB70BDF-FA65-82BD-4705-52A2035E0A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F39FD9-471D-A273-5387-AFF2A1A028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6F1E5-6177-7643-9DA7-6B86FFB5D8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60041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DF8342-2B8E-8EED-A033-C5DCAED52A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3F68F9-4CE0-362E-F18D-B93ED4A411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8A33E1-DFFF-B88F-7CA8-70D798EA6C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FD9B9C-2573-1793-6559-ADC96C6A06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15DF9E-C300-CD47-9078-B6282A73C201}" type="datetimeFigureOut">
              <a:rPr lang="en-US" smtClean="0"/>
              <a:t>11/12/25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ABFE55-52AC-73C5-6E72-EB80EAE8AD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9386A3-A6A2-34EA-C1B9-5BB1899F74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6F1E5-6177-7643-9DA7-6B86FFB5D8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27865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41B0E6-0407-F4B9-A396-C13D001B8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2632C91-EB74-DCB6-182C-5ABCEBF4852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0140BDC-9B1E-B981-D671-D705743B09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5D59BC-BCC7-2D1A-9AFC-754153019C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15DF9E-C300-CD47-9078-B6282A73C201}" type="datetimeFigureOut">
              <a:rPr lang="en-US" smtClean="0"/>
              <a:t>11/12/25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CC3E96-E9B3-AE7E-36AC-B9B0A9C20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CB45ED-DD6F-FD96-3620-632778D3F8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6F1E5-6177-7643-9DA7-6B86FFB5D8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76411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B4A776-6502-DCF0-0BD4-F0AD7DF005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A7C8972-54D2-498B-E6FB-0B8DFB52F1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238867-0910-CC22-EC39-B47464F8CE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15DF9E-C300-CD47-9078-B6282A73C201}" type="datetimeFigureOut">
              <a:rPr lang="en-US" smtClean="0"/>
              <a:t>11/12/25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58C473-4380-0370-25C0-98B720C2C7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2C35F8-1B1E-0355-CA26-8E72824FCC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6F1E5-6177-7643-9DA7-6B86FFB5D8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70419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2F11335-65F2-8CA1-4A82-60F0677D2D5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9A75909-0CCC-F351-697E-B8538A04A2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EFD713-64CB-AC25-7073-AF3D932724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15DF9E-C300-CD47-9078-B6282A73C201}" type="datetimeFigureOut">
              <a:rPr lang="en-US" smtClean="0"/>
              <a:t>11/12/25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DDFAB9-A0F5-DBCD-044F-29E6F494C2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863715-D63F-86A5-918F-395A58C9F2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6F1E5-6177-7643-9DA7-6B86FFB5D8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98928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AC9ACD-5327-9A8F-84EB-7E4C45F373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559557-EE98-B31F-F4D9-2876BEDC13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3FD829-BA57-FF04-3282-B2F873D2B95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D15DF9E-C300-CD47-9078-B6282A73C201}" type="datetimeFigureOut">
              <a:rPr lang="en-US" smtClean="0"/>
              <a:t>11/12/25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9C0138-DCCB-5EF4-86A5-DE18027A5BB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BC2D26-25F1-BF01-5989-F04C8D4BF9C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F06F1E5-6177-7643-9DA7-6B86FFB5D8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00032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jpe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Palantir | Gotham | Titanium">
            <a:extLst>
              <a:ext uri="{FF2B5EF4-FFF2-40B4-BE49-F238E27FC236}">
                <a16:creationId xmlns:a16="http://schemas.microsoft.com/office/drawing/2014/main" id="{05BAD5EA-4B58-1279-D3A4-CEF3233870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itle 16">
            <a:extLst>
              <a:ext uri="{FF2B5EF4-FFF2-40B4-BE49-F238E27FC236}">
                <a16:creationId xmlns:a16="http://schemas.microsoft.com/office/drawing/2014/main" id="{AF5D5CFD-A366-3CC2-5B3D-114A62EDB0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84324" y="204395"/>
            <a:ext cx="5414611" cy="2156287"/>
          </a:xfrm>
          <a:prstGeom prst="rect">
            <a:avLst/>
          </a:prstGeom>
          <a:ln w="38100">
            <a:solidFill>
              <a:schemeClr val="bg1"/>
            </a:solidFill>
          </a:ln>
        </p:spPr>
        <p:txBody>
          <a:bodyPr anchor="ctr">
            <a:normAutofit fontScale="90000"/>
          </a:bodyPr>
          <a:lstStyle/>
          <a:p>
            <a:r>
              <a:rPr lang="en-US" dirty="0">
                <a:solidFill>
                  <a:schemeClr val="bg1"/>
                </a:solidFill>
              </a:rPr>
              <a:t>EE Project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Stock projection of Palantir</a:t>
            </a:r>
          </a:p>
        </p:txBody>
      </p:sp>
      <p:pic>
        <p:nvPicPr>
          <p:cNvPr id="1028" name="Picture 4" descr="Palantir logo in transparent PNG and vectorized SVG formats">
            <a:extLst>
              <a:ext uri="{FF2B5EF4-FFF2-40B4-BE49-F238E27FC236}">
                <a16:creationId xmlns:a16="http://schemas.microsoft.com/office/drawing/2014/main" id="{E4125BC0-6E6D-044B-F785-85931EB6AD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26589" y="5641845"/>
            <a:ext cx="673972" cy="8611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056439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37232EE8-6E00-D701-67FA-4377C816DC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360001"/>
            <a:ext cx="8958880" cy="484238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Why the task matters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10D4EF4-B4C9-3040-6CA1-B40AE4A108ED}"/>
              </a:ext>
            </a:extLst>
          </p:cNvPr>
          <p:cNvCxnSpPr>
            <a:cxnSpLocks/>
          </p:cNvCxnSpPr>
          <p:nvPr/>
        </p:nvCxnSpPr>
        <p:spPr>
          <a:xfrm>
            <a:off x="464274" y="1736883"/>
            <a:ext cx="3730654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" name="Subtitle 7">
            <a:extLst>
              <a:ext uri="{FF2B5EF4-FFF2-40B4-BE49-F238E27FC236}">
                <a16:creationId xmlns:a16="http://schemas.microsoft.com/office/drawing/2014/main" id="{90628365-6159-90FA-442E-B3277EA4E680}"/>
              </a:ext>
            </a:extLst>
          </p:cNvPr>
          <p:cNvSpPr txBox="1">
            <a:spLocks/>
          </p:cNvSpPr>
          <p:nvPr/>
        </p:nvSpPr>
        <p:spPr>
          <a:xfrm>
            <a:off x="432000" y="1782759"/>
            <a:ext cx="2409857" cy="328199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b="1" dirty="0">
                <a:solidFill>
                  <a:srgbClr val="42D90C"/>
                </a:solidFill>
              </a:rPr>
              <a:t>Relevance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87098A0-08FE-8D33-F740-2EB6B01914EC}"/>
              </a:ext>
            </a:extLst>
          </p:cNvPr>
          <p:cNvSpPr txBox="1"/>
          <p:nvPr/>
        </p:nvSpPr>
        <p:spPr>
          <a:xfrm>
            <a:off x="432000" y="2156833"/>
            <a:ext cx="3730654" cy="3293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Since stock prediction is a time series of numbers it provides the perfect basis to explode it to models like LSTM’s, GRU’s, or even transformers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This projects applies to many course concepts and to a real world high-complexity task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Being an MBA student and personally invested in the stock market and the Company this seemed to be the perfect fit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</p:txBody>
      </p:sp>
      <p:pic>
        <p:nvPicPr>
          <p:cNvPr id="2050" name="Picture 2" descr="Palantir icon - Free Download PNG &amp; SVG | Streamline">
            <a:extLst>
              <a:ext uri="{FF2B5EF4-FFF2-40B4-BE49-F238E27FC236}">
                <a16:creationId xmlns:a16="http://schemas.microsoft.com/office/drawing/2014/main" id="{E72A983B-D495-70DC-83BE-8A1B1AD420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62110" y="122772"/>
            <a:ext cx="626097" cy="6260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AF3B4DDA-5781-D54D-4709-802FCF0CCCF4}"/>
              </a:ext>
            </a:extLst>
          </p:cNvPr>
          <p:cNvCxnSpPr>
            <a:cxnSpLocks/>
          </p:cNvCxnSpPr>
          <p:nvPr/>
        </p:nvCxnSpPr>
        <p:spPr>
          <a:xfrm>
            <a:off x="4309189" y="1736883"/>
            <a:ext cx="3730654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1" name="Subtitle 7">
            <a:extLst>
              <a:ext uri="{FF2B5EF4-FFF2-40B4-BE49-F238E27FC236}">
                <a16:creationId xmlns:a16="http://schemas.microsoft.com/office/drawing/2014/main" id="{987BBA9E-92EE-D805-0B41-FB0DF428073B}"/>
              </a:ext>
            </a:extLst>
          </p:cNvPr>
          <p:cNvSpPr txBox="1">
            <a:spLocks/>
          </p:cNvSpPr>
          <p:nvPr/>
        </p:nvSpPr>
        <p:spPr>
          <a:xfrm>
            <a:off x="4276915" y="1782759"/>
            <a:ext cx="2409857" cy="328199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b="1" dirty="0">
                <a:solidFill>
                  <a:srgbClr val="42D90C"/>
                </a:solidFill>
              </a:rPr>
              <a:t>Domain Knowledge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3B77270-3985-33FD-5BAC-87FE99C21275}"/>
              </a:ext>
            </a:extLst>
          </p:cNvPr>
          <p:cNvSpPr txBox="1"/>
          <p:nvPr/>
        </p:nvSpPr>
        <p:spPr>
          <a:xfrm>
            <a:off x="4276915" y="2156833"/>
            <a:ext cx="3529898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Strong business and finance foundation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Hands-on exposure to the stock market and profound knowledge of the company and their business model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Strong Expertise and proven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/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307E0C8C-5256-F757-4186-94E20D0C9A56}"/>
              </a:ext>
            </a:extLst>
          </p:cNvPr>
          <p:cNvCxnSpPr>
            <a:cxnSpLocks/>
          </p:cNvCxnSpPr>
          <p:nvPr/>
        </p:nvCxnSpPr>
        <p:spPr>
          <a:xfrm>
            <a:off x="8154103" y="1736883"/>
            <a:ext cx="3730654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5" name="Subtitle 7">
            <a:extLst>
              <a:ext uri="{FF2B5EF4-FFF2-40B4-BE49-F238E27FC236}">
                <a16:creationId xmlns:a16="http://schemas.microsoft.com/office/drawing/2014/main" id="{1B077945-E42F-8C13-D037-B229F3DCF96E}"/>
              </a:ext>
            </a:extLst>
          </p:cNvPr>
          <p:cNvSpPr txBox="1">
            <a:spLocks/>
          </p:cNvSpPr>
          <p:nvPr/>
        </p:nvSpPr>
        <p:spPr>
          <a:xfrm>
            <a:off x="8121829" y="1782759"/>
            <a:ext cx="2409857" cy="328199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b="1" dirty="0">
                <a:solidFill>
                  <a:srgbClr val="42D90C"/>
                </a:solidFill>
              </a:rPr>
              <a:t>Data Availability 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4DE6A00-80C8-4D63-4265-A576BDCE284D}"/>
              </a:ext>
            </a:extLst>
          </p:cNvPr>
          <p:cNvSpPr txBox="1"/>
          <p:nvPr/>
        </p:nvSpPr>
        <p:spPr>
          <a:xfrm>
            <a:off x="8121829" y="2156833"/>
            <a:ext cx="2933369" cy="25237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Daily historical prices (Open, High, Low, Close, Volume)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Technical indicators (e.g., 20-day MA, RSI, volatility measures)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Broader market data (e.g., NASDAQ index trends) for noise/context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/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id="{8FEC9852-E866-3B19-D8CF-86826ABE68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72286" y="5160648"/>
            <a:ext cx="1863324" cy="2634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Kaggle - Wikipedia">
            <a:extLst>
              <a:ext uri="{FF2B5EF4-FFF2-40B4-BE49-F238E27FC236}">
                <a16:creationId xmlns:a16="http://schemas.microsoft.com/office/drawing/2014/main" id="{08AA3065-8C7E-3A57-0ED4-A36EC37CE8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68563" y="5479538"/>
            <a:ext cx="1286635" cy="4995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 descr="WRDS">
            <a:extLst>
              <a:ext uri="{FF2B5EF4-FFF2-40B4-BE49-F238E27FC236}">
                <a16:creationId xmlns:a16="http://schemas.microsoft.com/office/drawing/2014/main" id="{6EAA9A6C-0724-1558-E5C1-E7FEFF02F5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40774" y="5874752"/>
            <a:ext cx="1900211" cy="7145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8" name="Picture 10" descr="TradingView - Ironbeam Futures">
            <a:extLst>
              <a:ext uri="{FF2B5EF4-FFF2-40B4-BE49-F238E27FC236}">
                <a16:creationId xmlns:a16="http://schemas.microsoft.com/office/drawing/2014/main" id="{BFF7DB7F-FB39-3AF8-2B82-6C82127776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09110" y="4597691"/>
            <a:ext cx="2253000" cy="375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0" name="Picture 12" descr="Expertise - Free business icons">
            <a:extLst>
              <a:ext uri="{FF2B5EF4-FFF2-40B4-BE49-F238E27FC236}">
                <a16:creationId xmlns:a16="http://schemas.microsoft.com/office/drawing/2014/main" id="{774F05AD-A969-3CC3-F1FC-791B3075D1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80674" y="5064101"/>
            <a:ext cx="1723135" cy="17231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4" name="Picture 16" descr="Idea - Free technology icons">
            <a:extLst>
              <a:ext uri="{FF2B5EF4-FFF2-40B4-BE49-F238E27FC236}">
                <a16:creationId xmlns:a16="http://schemas.microsoft.com/office/drawing/2014/main" id="{4D1A45A7-7C61-6D75-2CED-2A03EA596E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9921" y="5177217"/>
            <a:ext cx="1496905" cy="14969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854019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1C3D00-8364-8F14-BFFD-95A08A3473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DD185E22-D863-84B2-4745-89B37F752B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360001"/>
            <a:ext cx="8958880" cy="484238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High-Level Model Structure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1BBA3FB-7EA1-9F25-822F-2B283DF72228}"/>
              </a:ext>
            </a:extLst>
          </p:cNvPr>
          <p:cNvSpPr txBox="1"/>
          <p:nvPr/>
        </p:nvSpPr>
        <p:spPr>
          <a:xfrm>
            <a:off x="776747" y="2871018"/>
            <a:ext cx="3018503" cy="2585323"/>
          </a:xfrm>
          <a:prstGeom prst="rect">
            <a:avLst/>
          </a:prstGeom>
          <a:noFill/>
          <a:ln w="38100">
            <a:solidFill>
              <a:srgbClr val="42D90C"/>
            </a:solidFill>
            <a:prstDash val="dash"/>
          </a:ln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Closing price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5/10/20- Day Moving Average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Volume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NASDAQ Closing price (represent the market noise of the industry they are in)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TBD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76C7E2F-6CC7-075C-D9EE-15C04A805ECA}"/>
              </a:ext>
            </a:extLst>
          </p:cNvPr>
          <p:cNvSpPr txBox="1"/>
          <p:nvPr/>
        </p:nvSpPr>
        <p:spPr>
          <a:xfrm>
            <a:off x="4567083" y="2871017"/>
            <a:ext cx="3018503" cy="2677656"/>
          </a:xfrm>
          <a:prstGeom prst="rect">
            <a:avLst/>
          </a:prstGeom>
          <a:noFill/>
          <a:ln w="38100">
            <a:solidFill>
              <a:srgbClr val="42D90C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endParaRPr lang="en-US" sz="2400" b="1" dirty="0"/>
          </a:p>
          <a:p>
            <a:pPr algn="ctr"/>
            <a:r>
              <a:rPr lang="en-US" sz="2400" b="1" dirty="0"/>
              <a:t>LSTM 1</a:t>
            </a:r>
          </a:p>
          <a:p>
            <a:pPr algn="ctr"/>
            <a:endParaRPr lang="en-US" sz="2400" b="1" dirty="0"/>
          </a:p>
          <a:p>
            <a:pPr algn="ctr"/>
            <a:endParaRPr lang="en-US" sz="2400" b="1" dirty="0"/>
          </a:p>
          <a:p>
            <a:pPr algn="ctr"/>
            <a:endParaRPr lang="en-US" sz="2400" b="1" dirty="0"/>
          </a:p>
          <a:p>
            <a:pPr algn="ctr"/>
            <a:r>
              <a:rPr lang="en-US" sz="2400" b="1" dirty="0"/>
              <a:t>LSTM2</a:t>
            </a:r>
          </a:p>
          <a:p>
            <a:pPr algn="ctr"/>
            <a:endParaRPr lang="en-US" sz="2400" b="1" dirty="0"/>
          </a:p>
        </p:txBody>
      </p:sp>
      <p:sp>
        <p:nvSpPr>
          <p:cNvPr id="7" name="Down Arrow 6">
            <a:extLst>
              <a:ext uri="{FF2B5EF4-FFF2-40B4-BE49-F238E27FC236}">
                <a16:creationId xmlns:a16="http://schemas.microsoft.com/office/drawing/2014/main" id="{0F81B118-FD9B-4985-37DB-922BC0ACE3EB}"/>
              </a:ext>
            </a:extLst>
          </p:cNvPr>
          <p:cNvSpPr/>
          <p:nvPr/>
        </p:nvSpPr>
        <p:spPr>
          <a:xfrm>
            <a:off x="5889522" y="3726835"/>
            <a:ext cx="344129" cy="966019"/>
          </a:xfrm>
          <a:prstGeom prst="downArrow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Down Arrow 7">
            <a:extLst>
              <a:ext uri="{FF2B5EF4-FFF2-40B4-BE49-F238E27FC236}">
                <a16:creationId xmlns:a16="http://schemas.microsoft.com/office/drawing/2014/main" id="{3D657FD3-9ADD-6414-80FB-DB79FBCE6369}"/>
              </a:ext>
            </a:extLst>
          </p:cNvPr>
          <p:cNvSpPr/>
          <p:nvPr/>
        </p:nvSpPr>
        <p:spPr>
          <a:xfrm rot="16200000">
            <a:off x="4009102" y="4002137"/>
            <a:ext cx="344129" cy="415413"/>
          </a:xfrm>
          <a:prstGeom prst="downArrow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5E6F5BD-F367-41C4-B617-2E864B67E649}"/>
              </a:ext>
            </a:extLst>
          </p:cNvPr>
          <p:cNvSpPr txBox="1"/>
          <p:nvPr/>
        </p:nvSpPr>
        <p:spPr>
          <a:xfrm>
            <a:off x="8426243" y="3055681"/>
            <a:ext cx="3018503" cy="2308324"/>
          </a:xfrm>
          <a:prstGeom prst="rect">
            <a:avLst/>
          </a:prstGeom>
          <a:noFill/>
          <a:ln w="38100">
            <a:solidFill>
              <a:srgbClr val="42D90C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endParaRPr lang="en-US" sz="2400" b="1" dirty="0"/>
          </a:p>
          <a:p>
            <a:pPr algn="ctr"/>
            <a:r>
              <a:rPr lang="en-US" sz="2400" b="1" dirty="0"/>
              <a:t>Next Day Close Price and Indicator for stock movement (up/down)</a:t>
            </a:r>
          </a:p>
          <a:p>
            <a:pPr algn="ctr"/>
            <a:endParaRPr lang="en-US" sz="2400" b="1" dirty="0"/>
          </a:p>
        </p:txBody>
      </p:sp>
      <p:sp>
        <p:nvSpPr>
          <p:cNvPr id="10" name="Down Arrow 9">
            <a:extLst>
              <a:ext uri="{FF2B5EF4-FFF2-40B4-BE49-F238E27FC236}">
                <a16:creationId xmlns:a16="http://schemas.microsoft.com/office/drawing/2014/main" id="{E4A771A4-68D1-B4F4-8940-6F2E7AEE9544}"/>
              </a:ext>
            </a:extLst>
          </p:cNvPr>
          <p:cNvSpPr/>
          <p:nvPr/>
        </p:nvSpPr>
        <p:spPr>
          <a:xfrm rot="16200000">
            <a:off x="7799438" y="4002138"/>
            <a:ext cx="344129" cy="415413"/>
          </a:xfrm>
          <a:prstGeom prst="downArrow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7CACC0C-25E2-2C2B-F047-8609F46D6FEA}"/>
              </a:ext>
            </a:extLst>
          </p:cNvPr>
          <p:cNvSpPr txBox="1"/>
          <p:nvPr/>
        </p:nvSpPr>
        <p:spPr>
          <a:xfrm>
            <a:off x="776747" y="2230371"/>
            <a:ext cx="301850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Input and Features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A8EA898-AB45-0388-610A-817E5B2C43E5}"/>
              </a:ext>
            </a:extLst>
          </p:cNvPr>
          <p:cNvSpPr txBox="1"/>
          <p:nvPr/>
        </p:nvSpPr>
        <p:spPr>
          <a:xfrm>
            <a:off x="4725628" y="2228369"/>
            <a:ext cx="26387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Sequence Model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1432314-141A-77CE-3268-B7A5C953811D}"/>
              </a:ext>
            </a:extLst>
          </p:cNvPr>
          <p:cNvSpPr txBox="1"/>
          <p:nvPr/>
        </p:nvSpPr>
        <p:spPr>
          <a:xfrm>
            <a:off x="9301315" y="2228369"/>
            <a:ext cx="12683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Output</a:t>
            </a:r>
          </a:p>
        </p:txBody>
      </p:sp>
      <p:pic>
        <p:nvPicPr>
          <p:cNvPr id="14" name="Picture 2" descr="Palantir icon - Free Download PNG &amp; SVG | Streamline">
            <a:extLst>
              <a:ext uri="{FF2B5EF4-FFF2-40B4-BE49-F238E27FC236}">
                <a16:creationId xmlns:a16="http://schemas.microsoft.com/office/drawing/2014/main" id="{D7DF324A-93DF-4DB9-C1F1-95566DC2C7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62110" y="122772"/>
            <a:ext cx="626097" cy="6260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723485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86CD40-8088-423A-69ED-50DB263D20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21AC3193-02D2-61E6-AC99-2950342480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360001"/>
            <a:ext cx="8958880" cy="484238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Feasibility and Limitations </a:t>
            </a:r>
          </a:p>
        </p:txBody>
      </p:sp>
      <p:pic>
        <p:nvPicPr>
          <p:cNvPr id="2" name="Picture 2" descr="Palantir icon - Free Download PNG &amp; SVG | Streamline">
            <a:extLst>
              <a:ext uri="{FF2B5EF4-FFF2-40B4-BE49-F238E27FC236}">
                <a16:creationId xmlns:a16="http://schemas.microsoft.com/office/drawing/2014/main" id="{DEEE0C08-EF6D-F92C-9ABA-3FFCD69818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62110" y="122772"/>
            <a:ext cx="626097" cy="6260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76C6F946-04CC-A99C-B98A-18E015BAB250}"/>
              </a:ext>
            </a:extLst>
          </p:cNvPr>
          <p:cNvCxnSpPr>
            <a:cxnSpLocks/>
          </p:cNvCxnSpPr>
          <p:nvPr/>
        </p:nvCxnSpPr>
        <p:spPr>
          <a:xfrm>
            <a:off x="464274" y="1736883"/>
            <a:ext cx="3730654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" name="Subtitle 7">
            <a:extLst>
              <a:ext uri="{FF2B5EF4-FFF2-40B4-BE49-F238E27FC236}">
                <a16:creationId xmlns:a16="http://schemas.microsoft.com/office/drawing/2014/main" id="{EF2C64D3-9401-E36E-B050-BBCDE675E79E}"/>
              </a:ext>
            </a:extLst>
          </p:cNvPr>
          <p:cNvSpPr txBox="1">
            <a:spLocks/>
          </p:cNvSpPr>
          <p:nvPr/>
        </p:nvSpPr>
        <p:spPr>
          <a:xfrm>
            <a:off x="432000" y="1782759"/>
            <a:ext cx="2409857" cy="328199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b="1" dirty="0">
                <a:solidFill>
                  <a:srgbClr val="42D90C"/>
                </a:solidFill>
              </a:rPr>
              <a:t>Feasibility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EAB803F-555D-558F-B444-DCEB1D9F67DB}"/>
              </a:ext>
            </a:extLst>
          </p:cNvPr>
          <p:cNvSpPr txBox="1"/>
          <p:nvPr/>
        </p:nvSpPr>
        <p:spPr>
          <a:xfrm>
            <a:off x="432000" y="2156833"/>
            <a:ext cx="373065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Time-series is clean and structured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Dataset is widely available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Built with </a:t>
            </a:r>
            <a:r>
              <a:rPr lang="en-US" sz="1600" dirty="0" err="1"/>
              <a:t>PyTorch</a:t>
            </a:r>
            <a:r>
              <a:rPr lang="en-US" sz="1600" dirty="0"/>
              <a:t> – simple to extend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Well suited for sequence models 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7118543-74E0-DDD5-F7A7-9FE84F7EF8E8}"/>
              </a:ext>
            </a:extLst>
          </p:cNvPr>
          <p:cNvCxnSpPr>
            <a:cxnSpLocks/>
          </p:cNvCxnSpPr>
          <p:nvPr/>
        </p:nvCxnSpPr>
        <p:spPr>
          <a:xfrm>
            <a:off x="4309189" y="1736883"/>
            <a:ext cx="3730654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" name="Subtitle 7">
            <a:extLst>
              <a:ext uri="{FF2B5EF4-FFF2-40B4-BE49-F238E27FC236}">
                <a16:creationId xmlns:a16="http://schemas.microsoft.com/office/drawing/2014/main" id="{AEACBC86-7B7C-C914-B21B-09210DFE1CDE}"/>
              </a:ext>
            </a:extLst>
          </p:cNvPr>
          <p:cNvSpPr txBox="1">
            <a:spLocks/>
          </p:cNvSpPr>
          <p:nvPr/>
        </p:nvSpPr>
        <p:spPr>
          <a:xfrm>
            <a:off x="4276915" y="1782759"/>
            <a:ext cx="2409857" cy="328199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b="1" dirty="0">
                <a:solidFill>
                  <a:srgbClr val="42D90C"/>
                </a:solidFill>
              </a:rPr>
              <a:t>Utility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D59C828-409A-EE02-BBF3-65FE34F42A6E}"/>
              </a:ext>
            </a:extLst>
          </p:cNvPr>
          <p:cNvSpPr txBox="1"/>
          <p:nvPr/>
        </p:nvSpPr>
        <p:spPr>
          <a:xfrm>
            <a:off x="4276915" y="2156833"/>
            <a:ext cx="352989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The overall goal is to provide a tool that provides two insights: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sz="1600" dirty="0"/>
              <a:t>Is the stock stock going to move up or down 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sz="1600" dirty="0"/>
              <a:t>And the prediction of the price the next day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Useful for investors or analysts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Supports experimentation with real forecasting pipelines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2B22206-4F65-B236-D87E-3DD6214168BD}"/>
              </a:ext>
            </a:extLst>
          </p:cNvPr>
          <p:cNvCxnSpPr>
            <a:cxnSpLocks/>
          </p:cNvCxnSpPr>
          <p:nvPr/>
        </p:nvCxnSpPr>
        <p:spPr>
          <a:xfrm>
            <a:off x="8154103" y="1736883"/>
            <a:ext cx="3730654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" name="Subtitle 7">
            <a:extLst>
              <a:ext uri="{FF2B5EF4-FFF2-40B4-BE49-F238E27FC236}">
                <a16:creationId xmlns:a16="http://schemas.microsoft.com/office/drawing/2014/main" id="{2B6F46DA-8289-8CD8-A759-FD102459AA89}"/>
              </a:ext>
            </a:extLst>
          </p:cNvPr>
          <p:cNvSpPr txBox="1">
            <a:spLocks/>
          </p:cNvSpPr>
          <p:nvPr/>
        </p:nvSpPr>
        <p:spPr>
          <a:xfrm>
            <a:off x="8121829" y="1782759"/>
            <a:ext cx="2409857" cy="328199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b="1" dirty="0">
                <a:solidFill>
                  <a:srgbClr val="42D90C"/>
                </a:solidFill>
              </a:rPr>
              <a:t>Limitations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1298FA6-6979-A7A1-A685-EAD635463618}"/>
              </a:ext>
            </a:extLst>
          </p:cNvPr>
          <p:cNvSpPr txBox="1"/>
          <p:nvPr/>
        </p:nvSpPr>
        <p:spPr>
          <a:xfrm>
            <a:off x="8121829" y="2156833"/>
            <a:ext cx="2933369" cy="22775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Limited by historical data  model cannot respect new macro events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Risk of overfitting to short-term noise or past regimes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Only uses numerical data (ignores sentiment, fundamentals, and news)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/>
          </a:p>
        </p:txBody>
      </p:sp>
      <p:pic>
        <p:nvPicPr>
          <p:cNvPr id="4104" name="Picture 8" descr="Stock Market Design Of Bull And Bear, Animals, Bear, Black PNG Transparent  Image and Clipart for Free Download">
            <a:extLst>
              <a:ext uri="{FF2B5EF4-FFF2-40B4-BE49-F238E27FC236}">
                <a16:creationId xmlns:a16="http://schemas.microsoft.com/office/drawing/2014/main" id="{BB048040-25F5-3228-75CE-23F49BEE83D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868" b="32231"/>
          <a:stretch>
            <a:fillRect/>
          </a:stretch>
        </p:blipFill>
        <p:spPr bwMode="auto">
          <a:xfrm>
            <a:off x="3493308" y="4885105"/>
            <a:ext cx="5205383" cy="19728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145997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92F0F8-909F-6EA7-D251-C1FAF98588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Does Palantir See Too Much? - The New York Times">
            <a:extLst>
              <a:ext uri="{FF2B5EF4-FFF2-40B4-BE49-F238E27FC236}">
                <a16:creationId xmlns:a16="http://schemas.microsoft.com/office/drawing/2014/main" id="{268AE5C0-F626-CA07-2676-71589FD6B8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4" descr="Palantir logo in transparent PNG and vectorized SVG formats">
            <a:extLst>
              <a:ext uri="{FF2B5EF4-FFF2-40B4-BE49-F238E27FC236}">
                <a16:creationId xmlns:a16="http://schemas.microsoft.com/office/drawing/2014/main" id="{5AB7F2FC-6337-20E8-8872-4FB6418DCD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59014" y="2998423"/>
            <a:ext cx="673972" cy="8611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971194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481</TotalTime>
  <Words>299</Words>
  <Application>Microsoft Macintosh PowerPoint</Application>
  <PresentationFormat>Widescreen</PresentationFormat>
  <Paragraphs>47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Aptos</vt:lpstr>
      <vt:lpstr>Aptos Display</vt:lpstr>
      <vt:lpstr>Arial</vt:lpstr>
      <vt:lpstr>Courier New</vt:lpstr>
      <vt:lpstr>Office Theme</vt:lpstr>
      <vt:lpstr>EE Project Stock projection of Palantir</vt:lpstr>
      <vt:lpstr>Why the task matters</vt:lpstr>
      <vt:lpstr>High-Level Model Structure </vt:lpstr>
      <vt:lpstr>Feasibility and Limitations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Jens Jung</dc:creator>
  <cp:lastModifiedBy>Jens Jung</cp:lastModifiedBy>
  <cp:revision>1</cp:revision>
  <dcterms:created xsi:type="dcterms:W3CDTF">2025-11-12T19:38:26Z</dcterms:created>
  <dcterms:modified xsi:type="dcterms:W3CDTF">2025-11-13T03:40:07Z</dcterms:modified>
</cp:coreProperties>
</file>