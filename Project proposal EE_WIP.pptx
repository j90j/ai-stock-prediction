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68" r:id="rId4"/>
    <p:sldId id="265" r:id="rId5"/>
    <p:sldId id="264" r:id="rId6"/>
    <p:sldId id="267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D90C"/>
    <a:srgbClr val="4BEC0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57"/>
    <p:restoredTop sz="96727"/>
  </p:normalViewPr>
  <p:slideViewPr>
    <p:cSldViewPr snapToGrid="0">
      <p:cViewPr varScale="1">
        <p:scale>
          <a:sx n="112" d="100"/>
          <a:sy n="112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2CF6-2D40-DE46-8687-78747A5B663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DD06-E17D-4348-AE3A-432EE244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8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DD06-E17D-4348-AE3A-432EE244ED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78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DD06-E17D-4348-AE3A-432EE244ED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42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678F2-1604-3BAE-26C2-DEE4A3F78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FA15F-6671-85FF-0F85-CA645BA0D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C172-0756-1D86-AB93-6BC28782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F6811-88A5-0C04-9642-FFDF5720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0C1B7-0940-8703-FD88-29D0F5B72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1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1856-4B13-0F4C-4AB1-FDC3DC43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404A0-91A1-B752-7C24-67C5E3D4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839D2-8DC7-A2F3-0AA0-80696D33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49581-73DE-12FF-A6D4-3AEFDA6BA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901C7-B630-03CE-510A-CB934BA9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4733-FA73-0F5F-7AB3-BE79C546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4598E-5AD0-383C-EB26-F8022F5F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FE20E-260E-0172-AC10-7ACCCB00C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680BE-3F8D-9D09-E51D-7E6F909E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D11CE-F106-0B37-8E8C-062F490D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6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1660-B498-C475-E384-14DEAE61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76138-A4DE-CC8D-A673-8BE73C8FE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33B24-7B34-64E9-115E-8416CDA23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2A1EC-37AF-04BB-2122-3170CB84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2B43B-44B2-E2AD-57CB-0E527511B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65123-CC3F-6F34-87FE-F3A4EEDB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1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DB3D-213F-C10C-3455-33D9F76F1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2022B-FA67-B09C-D36C-60A1B8091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C13BE-1617-60EB-8AB2-BFFE58AF0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31CDB-BD65-77E1-97CF-C174D1AF1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861E6-2FC5-40B1-AD80-1FFD496AE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C13A7-748C-B87C-8057-F6C97692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62086-8A4B-E236-85A8-10FC21E0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1FC586-2E7B-D1DD-CAC6-FD0DA702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4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D4B8-0A7A-9FFD-C0EC-27E59F36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84B758-BA5F-014C-9524-33A0E17D1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D628A-E983-F63C-DE33-1005A572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B91E2-A358-9A16-40F6-600031B2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3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0776E-5423-4791-0A89-11DF856B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70BDF-FA65-82BD-4705-52A2035E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39FD9-471D-A273-5387-AFF2A1A0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0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8342-2B8E-8EED-A033-C5DCAED5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68F9-4CE0-362E-F18D-B93ED4A41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A33E1-DFFF-B88F-7CA8-70D798EA6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D9B9C-2573-1793-6559-ADC96C6A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BFE55-52AC-73C5-6E72-EB80EAE8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386A3-A6A2-34EA-C1B9-5BB1899F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8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B0E6-0407-F4B9-A396-C13D001B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632C91-EB74-DCB6-182C-5ABCEBF485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40BDC-9B1E-B981-D671-D705743B0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D59BC-BCC7-2D1A-9AFC-75415301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3E96-E9B3-AE7E-36AC-B9B0A9C2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B45ED-DD6F-FD96-3620-632778D3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4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A776-6502-DCF0-0BD4-F0AD7DF0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C8972-54D2-498B-E6FB-0B8DFB52F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38867-0910-CC22-EC39-B47464F8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8C473-4380-0370-25C0-98B720C2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C35F8-1B1E-0355-CA26-8E72824F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4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11335-65F2-8CA1-4A82-60F0677D2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75909-0CCC-F351-697E-B8538A04A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FD713-64CB-AC25-7073-AF3D9327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DFAB9-A0F5-DBCD-044F-29E6F494C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63715-D63F-86A5-918F-395A58C9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9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C9ACD-5327-9A8F-84EB-7E4C45F37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59557-EE98-B31F-F4D9-2876BEDC1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D829-BA57-FF04-3282-B2F873D2B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5DF9E-C300-CD47-9078-B6282A73C20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C0138-DCCB-5EF4-86A5-DE18027A5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2D26-25F1-BF01-5989-F04C8D4BF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0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emf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lantir | Gotham | Titanium">
            <a:extLst>
              <a:ext uri="{FF2B5EF4-FFF2-40B4-BE49-F238E27FC236}">
                <a16:creationId xmlns:a16="http://schemas.microsoft.com/office/drawing/2014/main" id="{05BAD5EA-4B58-1279-D3A4-CEF323387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6">
            <a:extLst>
              <a:ext uri="{FF2B5EF4-FFF2-40B4-BE49-F238E27FC236}">
                <a16:creationId xmlns:a16="http://schemas.microsoft.com/office/drawing/2014/main" id="{AF5D5CFD-A366-3CC2-5B3D-114A62EDB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5298" y="355002"/>
            <a:ext cx="5414611" cy="2156287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anchor="ctr"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Stock projection of Palantir</a:t>
            </a:r>
          </a:p>
        </p:txBody>
      </p:sp>
      <p:pic>
        <p:nvPicPr>
          <p:cNvPr id="1028" name="Picture 4" descr="Palantir logo in transparent PNG and vectorized SVG formats">
            <a:extLst>
              <a:ext uri="{FF2B5EF4-FFF2-40B4-BE49-F238E27FC236}">
                <a16:creationId xmlns:a16="http://schemas.microsoft.com/office/drawing/2014/main" id="{E4125BC0-6E6D-044B-F785-85931EB6A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589" y="5641845"/>
            <a:ext cx="673972" cy="86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UW Logo PNG White – OOI Regional Cabled Array">
            <a:extLst>
              <a:ext uri="{FF2B5EF4-FFF2-40B4-BE49-F238E27FC236}">
                <a16:creationId xmlns:a16="http://schemas.microsoft.com/office/drawing/2014/main" id="{F7AEAC25-3BEE-0133-A720-AFAB56B6A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349" y="5761265"/>
            <a:ext cx="949804" cy="639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64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99A49-E4B8-C1EE-F48E-55E7FA21B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3F309C-1C71-C80A-9486-5E46D3091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60001"/>
            <a:ext cx="8958880" cy="4842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Why this project?</a:t>
            </a:r>
          </a:p>
        </p:txBody>
      </p:sp>
      <p:pic>
        <p:nvPicPr>
          <p:cNvPr id="2050" name="Picture 2" descr="Palantir icon - Free Download PNG &amp; SVG | Streamline">
            <a:extLst>
              <a:ext uri="{FF2B5EF4-FFF2-40B4-BE49-F238E27FC236}">
                <a16:creationId xmlns:a16="http://schemas.microsoft.com/office/drawing/2014/main" id="{70A317D0-8B6D-4937-878F-C18241C61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110" y="122772"/>
            <a:ext cx="626097" cy="6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D229CD-0507-298A-E224-F9F594B24012}"/>
              </a:ext>
            </a:extLst>
          </p:cNvPr>
          <p:cNvCxnSpPr/>
          <p:nvPr/>
        </p:nvCxnSpPr>
        <p:spPr>
          <a:xfrm>
            <a:off x="413339" y="3494315"/>
            <a:ext cx="35708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5D3E7D-06FA-11E1-20C9-A8AB186A5942}"/>
              </a:ext>
            </a:extLst>
          </p:cNvPr>
          <p:cNvCxnSpPr/>
          <p:nvPr/>
        </p:nvCxnSpPr>
        <p:spPr>
          <a:xfrm>
            <a:off x="4290475" y="3503646"/>
            <a:ext cx="35708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2A3EF4-62AB-F1A1-03DB-2657CD1A51AC}"/>
              </a:ext>
            </a:extLst>
          </p:cNvPr>
          <p:cNvCxnSpPr/>
          <p:nvPr/>
        </p:nvCxnSpPr>
        <p:spPr>
          <a:xfrm>
            <a:off x="8167612" y="3503646"/>
            <a:ext cx="35708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red and blue light streaks">
            <a:extLst>
              <a:ext uri="{FF2B5EF4-FFF2-40B4-BE49-F238E27FC236}">
                <a16:creationId xmlns:a16="http://schemas.microsoft.com/office/drawing/2014/main" id="{2E5B662F-5A5C-F900-C3B6-38490BC0B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57" y="1590870"/>
            <a:ext cx="2757195" cy="183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lass jar filled with coins and a plant">
            <a:extLst>
              <a:ext uri="{FF2B5EF4-FFF2-40B4-BE49-F238E27FC236}">
                <a16:creationId xmlns:a16="http://schemas.microsoft.com/office/drawing/2014/main" id="{6F5AFF08-1590-4CB9-9185-7A248BE89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572" y="1590873"/>
            <a:ext cx="2754638" cy="183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819D05CD-62A3-FAFB-80BF-274CF4604D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8" t="30622" b="33194"/>
          <a:stretch>
            <a:fillRect/>
          </a:stretch>
        </p:blipFill>
        <p:spPr bwMode="auto">
          <a:xfrm>
            <a:off x="8450573" y="1684650"/>
            <a:ext cx="2702647" cy="969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Graphics | UW College of Engineering">
            <a:extLst>
              <a:ext uri="{FF2B5EF4-FFF2-40B4-BE49-F238E27FC236}">
                <a16:creationId xmlns:a16="http://schemas.microsoft.com/office/drawing/2014/main" id="{2ACCFACF-AEA1-59A1-3789-B3B2B7F11B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0"/>
          <a:stretch>
            <a:fillRect/>
          </a:stretch>
        </p:blipFill>
        <p:spPr bwMode="auto">
          <a:xfrm>
            <a:off x="8329122" y="2591295"/>
            <a:ext cx="2945550" cy="85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689158-B2B0-CFA8-6430-4027FD837CF4}"/>
              </a:ext>
            </a:extLst>
          </p:cNvPr>
          <p:cNvSpPr txBox="1"/>
          <p:nvPr/>
        </p:nvSpPr>
        <p:spPr>
          <a:xfrm>
            <a:off x="413339" y="3559631"/>
            <a:ext cx="34887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Trading is extremely challenging and often </a:t>
            </a:r>
            <a:r>
              <a:rPr lang="en-US" b="1" dirty="0"/>
              <a:t>unpredictable</a:t>
            </a:r>
            <a:r>
              <a:rPr lang="en-US" dirty="0"/>
              <a:t>, (especially on a day-to-day basis). </a:t>
            </a:r>
          </a:p>
          <a:p>
            <a:endParaRPr lang="en-US" dirty="0"/>
          </a:p>
          <a:p>
            <a:r>
              <a:rPr lang="en-US" dirty="0"/>
              <a:t>Anything that helps predict whether the price will move </a:t>
            </a:r>
            <a:r>
              <a:rPr lang="en-US" b="1" dirty="0"/>
              <a:t>up </a:t>
            </a:r>
            <a:r>
              <a:rPr lang="en-US" dirty="0"/>
              <a:t>or </a:t>
            </a:r>
            <a:r>
              <a:rPr lang="en-US" b="1" dirty="0"/>
              <a:t>down</a:t>
            </a:r>
            <a:r>
              <a:rPr lang="en-US" dirty="0"/>
              <a:t> the next day is a significant advantage and can be </a:t>
            </a:r>
            <a:r>
              <a:rPr lang="en-US" b="1" dirty="0"/>
              <a:t>the difference</a:t>
            </a:r>
            <a:r>
              <a:rPr lang="en-US" dirty="0"/>
              <a:t> between making and losing money.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662B9-7C2E-CC59-DB29-C1A878753276}"/>
              </a:ext>
            </a:extLst>
          </p:cNvPr>
          <p:cNvSpPr txBox="1"/>
          <p:nvPr/>
        </p:nvSpPr>
        <p:spPr>
          <a:xfrm>
            <a:off x="4372588" y="3559630"/>
            <a:ext cx="34887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have a strong personal interest in the stock market and I’m always curious about how to make </a:t>
            </a:r>
            <a:r>
              <a:rPr lang="en-US" b="1" dirty="0"/>
              <a:t>better decisions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Palantir is an exciting company, and their business model is essentially </a:t>
            </a:r>
            <a:r>
              <a:rPr lang="en-US" b="1" dirty="0"/>
              <a:t>real-life deep learning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so it felt like a perfect fit for this project.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BDA60-1FE4-CE5D-1337-F159F84A78CD}"/>
              </a:ext>
            </a:extLst>
          </p:cNvPr>
          <p:cNvSpPr txBox="1"/>
          <p:nvPr/>
        </p:nvSpPr>
        <p:spPr>
          <a:xfrm>
            <a:off x="8186438" y="3559630"/>
            <a:ext cx="3488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Ideal Opportunity to </a:t>
            </a:r>
            <a:r>
              <a:rPr lang="en-US" b="1" dirty="0"/>
              <a:t>combine content</a:t>
            </a:r>
            <a:r>
              <a:rPr lang="en-US" dirty="0"/>
              <a:t> from UW’s business school and the college of engineering.</a:t>
            </a:r>
          </a:p>
          <a:p>
            <a:endParaRPr lang="en-US" dirty="0"/>
          </a:p>
        </p:txBody>
      </p:sp>
      <p:pic>
        <p:nvPicPr>
          <p:cNvPr id="4112" name="Picture 16" descr="UW Logo PNG Black – OOI Regional Cabled Array">
            <a:extLst>
              <a:ext uri="{FF2B5EF4-FFF2-40B4-BE49-F238E27FC236}">
                <a16:creationId xmlns:a16="http://schemas.microsoft.com/office/drawing/2014/main" id="{D5A24BFA-85FC-076B-9F91-B44FF46E6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505" y="193700"/>
            <a:ext cx="719167" cy="48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7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0E9D-7319-FD45-7682-07C4B3B6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1FFA263-4977-9C8E-40DA-A768C557ABC2}"/>
              </a:ext>
            </a:extLst>
          </p:cNvPr>
          <p:cNvSpPr/>
          <p:nvPr/>
        </p:nvSpPr>
        <p:spPr>
          <a:xfrm>
            <a:off x="564901" y="4125168"/>
            <a:ext cx="8180328" cy="2522975"/>
          </a:xfrm>
          <a:prstGeom prst="rect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EED71B-2348-5210-57A2-7AD951DC3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60001"/>
            <a:ext cx="8958880" cy="4842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basis: What data was used?</a:t>
            </a:r>
          </a:p>
        </p:txBody>
      </p:sp>
      <p:pic>
        <p:nvPicPr>
          <p:cNvPr id="2050" name="Picture 2" descr="Palantir icon - Free Download PNG &amp; SVG | Streamline">
            <a:extLst>
              <a:ext uri="{FF2B5EF4-FFF2-40B4-BE49-F238E27FC236}">
                <a16:creationId xmlns:a16="http://schemas.microsoft.com/office/drawing/2014/main" id="{5D0A454F-16A2-5CA9-433D-D8DF208AB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110" y="122772"/>
            <a:ext cx="626097" cy="6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leichschenkliges Dreieck 204">
            <a:extLst>
              <a:ext uri="{FF2B5EF4-FFF2-40B4-BE49-F238E27FC236}">
                <a16:creationId xmlns:a16="http://schemas.microsoft.com/office/drawing/2014/main" id="{0AB62594-4130-C6B2-07DE-2B35A3CA20F9}"/>
              </a:ext>
            </a:extLst>
          </p:cNvPr>
          <p:cNvSpPr/>
          <p:nvPr/>
        </p:nvSpPr>
        <p:spPr bwMode="auto">
          <a:xfrm rot="5400000">
            <a:off x="4149765" y="1563437"/>
            <a:ext cx="2522975" cy="2088229"/>
          </a:xfrm>
          <a:prstGeom prst="triangle">
            <a:avLst>
              <a:gd name="adj" fmla="val 35536"/>
            </a:avLst>
          </a:prstGeom>
          <a:solidFill>
            <a:srgbClr val="F2F2F2">
              <a:alpha val="47059"/>
            </a:srgbClr>
          </a:solidFill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3297" tIns="46649" rIns="93297" bIns="4664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24" dirty="0">
              <a:solidFill>
                <a:schemeClr val="tx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9E3EC8-CC87-6FF4-7F85-3F769A9ECCAC}"/>
              </a:ext>
            </a:extLst>
          </p:cNvPr>
          <p:cNvGrpSpPr/>
          <p:nvPr/>
        </p:nvGrpSpPr>
        <p:grpSpPr>
          <a:xfrm>
            <a:off x="6089114" y="1080631"/>
            <a:ext cx="4276045" cy="2450829"/>
            <a:chOff x="5952909" y="1740928"/>
            <a:chExt cx="5890474" cy="3376144"/>
          </a:xfrm>
        </p:grpSpPr>
        <p:grpSp>
          <p:nvGrpSpPr>
            <p:cNvPr id="3" name="Group 58">
              <a:extLst>
                <a:ext uri="{FF2B5EF4-FFF2-40B4-BE49-F238E27FC236}">
                  <a16:creationId xmlns:a16="http://schemas.microsoft.com/office/drawing/2014/main" id="{0CF2D905-3AA8-B237-DE7F-360A0574081C}"/>
                </a:ext>
              </a:extLst>
            </p:cNvPr>
            <p:cNvGrpSpPr/>
            <p:nvPr/>
          </p:nvGrpSpPr>
          <p:grpSpPr>
            <a:xfrm>
              <a:off x="5952909" y="1740928"/>
              <a:ext cx="5890474" cy="3376144"/>
              <a:chOff x="4157662" y="2174081"/>
              <a:chExt cx="16071850" cy="9367838"/>
            </a:xfrm>
            <a:solidFill>
              <a:schemeClr val="tx2"/>
            </a:solidFill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828CA26-DBF3-6B7B-537E-A2F0055A92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57662" y="2174081"/>
                <a:ext cx="16071850" cy="9367838"/>
              </a:xfrm>
              <a:custGeom>
                <a:avLst/>
                <a:gdLst>
                  <a:gd name="T0" fmla="*/ 6889 w 7604"/>
                  <a:gd name="T1" fmla="*/ 4138 h 4382"/>
                  <a:gd name="T2" fmla="*/ 6901 w 7604"/>
                  <a:gd name="T3" fmla="*/ 231 h 4382"/>
                  <a:gd name="T4" fmla="*/ 934 w 7604"/>
                  <a:gd name="T5" fmla="*/ 0 h 4382"/>
                  <a:gd name="T6" fmla="*/ 703 w 7604"/>
                  <a:gd name="T7" fmla="*/ 4063 h 4382"/>
                  <a:gd name="T8" fmla="*/ 12 w 7604"/>
                  <a:gd name="T9" fmla="*/ 4138 h 4382"/>
                  <a:gd name="T10" fmla="*/ 0 w 7604"/>
                  <a:gd name="T11" fmla="*/ 4268 h 4382"/>
                  <a:gd name="T12" fmla="*/ 15 w 7604"/>
                  <a:gd name="T13" fmla="*/ 4292 h 4382"/>
                  <a:gd name="T14" fmla="*/ 346 w 7604"/>
                  <a:gd name="T15" fmla="*/ 4382 h 4382"/>
                  <a:gd name="T16" fmla="*/ 7588 w 7604"/>
                  <a:gd name="T17" fmla="*/ 4292 h 4382"/>
                  <a:gd name="T18" fmla="*/ 7597 w 7604"/>
                  <a:gd name="T19" fmla="*/ 4286 h 4382"/>
                  <a:gd name="T20" fmla="*/ 7604 w 7604"/>
                  <a:gd name="T21" fmla="*/ 4150 h 4382"/>
                  <a:gd name="T22" fmla="*/ 719 w 7604"/>
                  <a:gd name="T23" fmla="*/ 4063 h 4382"/>
                  <a:gd name="T24" fmla="*/ 934 w 7604"/>
                  <a:gd name="T25" fmla="*/ 16 h 4382"/>
                  <a:gd name="T26" fmla="*/ 6885 w 7604"/>
                  <a:gd name="T27" fmla="*/ 231 h 4382"/>
                  <a:gd name="T28" fmla="*/ 6872 w 7604"/>
                  <a:gd name="T29" fmla="*/ 4138 h 4382"/>
                  <a:gd name="T30" fmla="*/ 6243 w 7604"/>
                  <a:gd name="T31" fmla="*/ 4134 h 4382"/>
                  <a:gd name="T32" fmla="*/ 6784 w 7604"/>
                  <a:gd name="T33" fmla="*/ 4051 h 4382"/>
                  <a:gd name="T34" fmla="*/ 6864 w 7604"/>
                  <a:gd name="T35" fmla="*/ 3598 h 4382"/>
                  <a:gd name="T36" fmla="*/ 6864 w 7604"/>
                  <a:gd name="T37" fmla="*/ 228 h 4382"/>
                  <a:gd name="T38" fmla="*/ 931 w 7604"/>
                  <a:gd name="T39" fmla="*/ 37 h 4382"/>
                  <a:gd name="T40" fmla="*/ 740 w 7604"/>
                  <a:gd name="T41" fmla="*/ 3578 h 4382"/>
                  <a:gd name="T42" fmla="*/ 740 w 7604"/>
                  <a:gd name="T43" fmla="*/ 3971 h 4382"/>
                  <a:gd name="T44" fmla="*/ 1362 w 7604"/>
                  <a:gd name="T45" fmla="*/ 4051 h 4382"/>
                  <a:gd name="T46" fmla="*/ 1342 w 7604"/>
                  <a:gd name="T47" fmla="*/ 4138 h 4382"/>
                  <a:gd name="T48" fmla="*/ 719 w 7604"/>
                  <a:gd name="T49" fmla="*/ 4063 h 4382"/>
                  <a:gd name="T50" fmla="*/ 2477 w 7604"/>
                  <a:gd name="T51" fmla="*/ 4138 h 4382"/>
                  <a:gd name="T52" fmla="*/ 1359 w 7604"/>
                  <a:gd name="T53" fmla="*/ 4138 h 4382"/>
                  <a:gd name="T54" fmla="*/ 2227 w 7604"/>
                  <a:gd name="T55" fmla="*/ 4051 h 4382"/>
                  <a:gd name="T56" fmla="*/ 6208 w 7604"/>
                  <a:gd name="T57" fmla="*/ 4051 h 4382"/>
                  <a:gd name="T58" fmla="*/ 4340 w 7604"/>
                  <a:gd name="T59" fmla="*/ 4138 h 4382"/>
                  <a:gd name="T60" fmla="*/ 4323 w 7604"/>
                  <a:gd name="T61" fmla="*/ 4154 h 4382"/>
                  <a:gd name="T62" fmla="*/ 3355 w 7604"/>
                  <a:gd name="T63" fmla="*/ 4224 h 4382"/>
                  <a:gd name="T64" fmla="*/ 4323 w 7604"/>
                  <a:gd name="T65" fmla="*/ 4154 h 4382"/>
                  <a:gd name="T66" fmla="*/ 756 w 7604"/>
                  <a:gd name="T67" fmla="*/ 3971 h 4382"/>
                  <a:gd name="T68" fmla="*/ 756 w 7604"/>
                  <a:gd name="T69" fmla="*/ 3578 h 4382"/>
                  <a:gd name="T70" fmla="*/ 931 w 7604"/>
                  <a:gd name="T71" fmla="*/ 53 h 4382"/>
                  <a:gd name="T72" fmla="*/ 6848 w 7604"/>
                  <a:gd name="T73" fmla="*/ 228 h 4382"/>
                  <a:gd name="T74" fmla="*/ 6848 w 7604"/>
                  <a:gd name="T75" fmla="*/ 3598 h 4382"/>
                  <a:gd name="T76" fmla="*/ 6784 w 7604"/>
                  <a:gd name="T77" fmla="*/ 4035 h 4382"/>
                  <a:gd name="T78" fmla="*/ 16 w 7604"/>
                  <a:gd name="T79" fmla="*/ 4154 h 4382"/>
                  <a:gd name="T80" fmla="*/ 1359 w 7604"/>
                  <a:gd name="T81" fmla="*/ 4154 h 4382"/>
                  <a:gd name="T82" fmla="*/ 2477 w 7604"/>
                  <a:gd name="T83" fmla="*/ 4154 h 4382"/>
                  <a:gd name="T84" fmla="*/ 3355 w 7604"/>
                  <a:gd name="T85" fmla="*/ 4240 h 4382"/>
                  <a:gd name="T86" fmla="*/ 4339 w 7604"/>
                  <a:gd name="T87" fmla="*/ 4154 h 4382"/>
                  <a:gd name="T88" fmla="*/ 6247 w 7604"/>
                  <a:gd name="T89" fmla="*/ 4154 h 4382"/>
                  <a:gd name="T90" fmla="*/ 7588 w 7604"/>
                  <a:gd name="T91" fmla="*/ 4269 h 4382"/>
                  <a:gd name="T92" fmla="*/ 7581 w 7604"/>
                  <a:gd name="T93" fmla="*/ 4278 h 4382"/>
                  <a:gd name="T94" fmla="*/ 18 w 7604"/>
                  <a:gd name="T95" fmla="*/ 4275 h 4382"/>
                  <a:gd name="T96" fmla="*/ 16 w 7604"/>
                  <a:gd name="T97" fmla="*/ 4154 h 4382"/>
                  <a:gd name="T98" fmla="*/ 346 w 7604"/>
                  <a:gd name="T99" fmla="*/ 4366 h 4382"/>
                  <a:gd name="T100" fmla="*/ 7555 w 7604"/>
                  <a:gd name="T101" fmla="*/ 4294 h 4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604" h="4382">
                    <a:moveTo>
                      <a:pt x="7592" y="4138"/>
                    </a:moveTo>
                    <a:cubicBezTo>
                      <a:pt x="6889" y="4138"/>
                      <a:pt x="6889" y="4138"/>
                      <a:pt x="6889" y="4138"/>
                    </a:cubicBezTo>
                    <a:cubicBezTo>
                      <a:pt x="6897" y="4114"/>
                      <a:pt x="6901" y="4089"/>
                      <a:pt x="6901" y="4063"/>
                    </a:cubicBezTo>
                    <a:cubicBezTo>
                      <a:pt x="6901" y="231"/>
                      <a:pt x="6901" y="231"/>
                      <a:pt x="6901" y="231"/>
                    </a:cubicBezTo>
                    <a:cubicBezTo>
                      <a:pt x="6901" y="103"/>
                      <a:pt x="6798" y="0"/>
                      <a:pt x="6671" y="0"/>
                    </a:cubicBezTo>
                    <a:cubicBezTo>
                      <a:pt x="934" y="0"/>
                      <a:pt x="934" y="0"/>
                      <a:pt x="934" y="0"/>
                    </a:cubicBezTo>
                    <a:cubicBezTo>
                      <a:pt x="807" y="0"/>
                      <a:pt x="703" y="103"/>
                      <a:pt x="703" y="231"/>
                    </a:cubicBezTo>
                    <a:cubicBezTo>
                      <a:pt x="703" y="4063"/>
                      <a:pt x="703" y="4063"/>
                      <a:pt x="703" y="4063"/>
                    </a:cubicBezTo>
                    <a:cubicBezTo>
                      <a:pt x="703" y="4089"/>
                      <a:pt x="708" y="4114"/>
                      <a:pt x="716" y="4138"/>
                    </a:cubicBezTo>
                    <a:cubicBezTo>
                      <a:pt x="12" y="4138"/>
                      <a:pt x="12" y="4138"/>
                      <a:pt x="12" y="4138"/>
                    </a:cubicBezTo>
                    <a:cubicBezTo>
                      <a:pt x="5" y="4138"/>
                      <a:pt x="0" y="4143"/>
                      <a:pt x="0" y="4150"/>
                    </a:cubicBezTo>
                    <a:cubicBezTo>
                      <a:pt x="0" y="4268"/>
                      <a:pt x="0" y="4268"/>
                      <a:pt x="0" y="4268"/>
                    </a:cubicBezTo>
                    <a:cubicBezTo>
                      <a:pt x="0" y="4271"/>
                      <a:pt x="0" y="4281"/>
                      <a:pt x="8" y="4287"/>
                    </a:cubicBezTo>
                    <a:cubicBezTo>
                      <a:pt x="11" y="4289"/>
                      <a:pt x="13" y="4291"/>
                      <a:pt x="15" y="4292"/>
                    </a:cubicBezTo>
                    <a:cubicBezTo>
                      <a:pt x="15" y="4292"/>
                      <a:pt x="15" y="4292"/>
                      <a:pt x="15" y="4292"/>
                    </a:cubicBezTo>
                    <a:cubicBezTo>
                      <a:pt x="68" y="4328"/>
                      <a:pt x="199" y="4382"/>
                      <a:pt x="346" y="4382"/>
                    </a:cubicBezTo>
                    <a:cubicBezTo>
                      <a:pt x="7257" y="4382"/>
                      <a:pt x="7257" y="4382"/>
                      <a:pt x="7257" y="4382"/>
                    </a:cubicBezTo>
                    <a:cubicBezTo>
                      <a:pt x="7404" y="4382"/>
                      <a:pt x="7536" y="4328"/>
                      <a:pt x="7588" y="4292"/>
                    </a:cubicBezTo>
                    <a:cubicBezTo>
                      <a:pt x="7588" y="4292"/>
                      <a:pt x="7588" y="4292"/>
                      <a:pt x="7588" y="4292"/>
                    </a:cubicBezTo>
                    <a:cubicBezTo>
                      <a:pt x="7591" y="4290"/>
                      <a:pt x="7594" y="4288"/>
                      <a:pt x="7597" y="4286"/>
                    </a:cubicBezTo>
                    <a:cubicBezTo>
                      <a:pt x="7604" y="4281"/>
                      <a:pt x="7604" y="4272"/>
                      <a:pt x="7604" y="4269"/>
                    </a:cubicBezTo>
                    <a:cubicBezTo>
                      <a:pt x="7604" y="4150"/>
                      <a:pt x="7604" y="4150"/>
                      <a:pt x="7604" y="4150"/>
                    </a:cubicBezTo>
                    <a:cubicBezTo>
                      <a:pt x="7604" y="4144"/>
                      <a:pt x="7598" y="4138"/>
                      <a:pt x="7592" y="4138"/>
                    </a:cubicBezTo>
                    <a:close/>
                    <a:moveTo>
                      <a:pt x="719" y="4063"/>
                    </a:moveTo>
                    <a:cubicBezTo>
                      <a:pt x="719" y="231"/>
                      <a:pt x="719" y="231"/>
                      <a:pt x="719" y="231"/>
                    </a:cubicBezTo>
                    <a:cubicBezTo>
                      <a:pt x="719" y="112"/>
                      <a:pt x="815" y="16"/>
                      <a:pt x="934" y="16"/>
                    </a:cubicBezTo>
                    <a:cubicBezTo>
                      <a:pt x="6671" y="16"/>
                      <a:pt x="6671" y="16"/>
                      <a:pt x="6671" y="16"/>
                    </a:cubicBezTo>
                    <a:cubicBezTo>
                      <a:pt x="6789" y="16"/>
                      <a:pt x="6885" y="112"/>
                      <a:pt x="6885" y="231"/>
                    </a:cubicBezTo>
                    <a:cubicBezTo>
                      <a:pt x="6885" y="4063"/>
                      <a:pt x="6885" y="4063"/>
                      <a:pt x="6885" y="4063"/>
                    </a:cubicBezTo>
                    <a:cubicBezTo>
                      <a:pt x="6885" y="4089"/>
                      <a:pt x="6881" y="4115"/>
                      <a:pt x="6872" y="4138"/>
                    </a:cubicBezTo>
                    <a:cubicBezTo>
                      <a:pt x="6244" y="4138"/>
                      <a:pt x="6244" y="4138"/>
                      <a:pt x="6244" y="4138"/>
                    </a:cubicBezTo>
                    <a:cubicBezTo>
                      <a:pt x="6243" y="4134"/>
                      <a:pt x="6243" y="4134"/>
                      <a:pt x="6243" y="4134"/>
                    </a:cubicBezTo>
                    <a:cubicBezTo>
                      <a:pt x="6224" y="4051"/>
                      <a:pt x="6224" y="4051"/>
                      <a:pt x="6224" y="4051"/>
                    </a:cubicBezTo>
                    <a:cubicBezTo>
                      <a:pt x="6784" y="4051"/>
                      <a:pt x="6784" y="4051"/>
                      <a:pt x="6784" y="4051"/>
                    </a:cubicBezTo>
                    <a:cubicBezTo>
                      <a:pt x="6828" y="4051"/>
                      <a:pt x="6864" y="4015"/>
                      <a:pt x="6864" y="3971"/>
                    </a:cubicBezTo>
                    <a:cubicBezTo>
                      <a:pt x="6864" y="3598"/>
                      <a:pt x="6864" y="3598"/>
                      <a:pt x="6864" y="3598"/>
                    </a:cubicBezTo>
                    <a:cubicBezTo>
                      <a:pt x="6864" y="3578"/>
                      <a:pt x="6864" y="3578"/>
                      <a:pt x="6864" y="3578"/>
                    </a:cubicBezTo>
                    <a:cubicBezTo>
                      <a:pt x="6864" y="228"/>
                      <a:pt x="6864" y="228"/>
                      <a:pt x="6864" y="228"/>
                    </a:cubicBezTo>
                    <a:cubicBezTo>
                      <a:pt x="6864" y="123"/>
                      <a:pt x="6779" y="37"/>
                      <a:pt x="6673" y="37"/>
                    </a:cubicBezTo>
                    <a:cubicBezTo>
                      <a:pt x="931" y="37"/>
                      <a:pt x="931" y="37"/>
                      <a:pt x="931" y="37"/>
                    </a:cubicBezTo>
                    <a:cubicBezTo>
                      <a:pt x="826" y="37"/>
                      <a:pt x="740" y="123"/>
                      <a:pt x="740" y="228"/>
                    </a:cubicBezTo>
                    <a:cubicBezTo>
                      <a:pt x="740" y="3578"/>
                      <a:pt x="740" y="3578"/>
                      <a:pt x="740" y="3578"/>
                    </a:cubicBezTo>
                    <a:cubicBezTo>
                      <a:pt x="740" y="3598"/>
                      <a:pt x="740" y="3598"/>
                      <a:pt x="740" y="3598"/>
                    </a:cubicBezTo>
                    <a:cubicBezTo>
                      <a:pt x="740" y="3971"/>
                      <a:pt x="740" y="3971"/>
                      <a:pt x="740" y="3971"/>
                    </a:cubicBezTo>
                    <a:cubicBezTo>
                      <a:pt x="740" y="4015"/>
                      <a:pt x="776" y="4051"/>
                      <a:pt x="820" y="4051"/>
                    </a:cubicBezTo>
                    <a:cubicBezTo>
                      <a:pt x="1362" y="4051"/>
                      <a:pt x="1362" y="4051"/>
                      <a:pt x="1362" y="4051"/>
                    </a:cubicBezTo>
                    <a:cubicBezTo>
                      <a:pt x="1343" y="4134"/>
                      <a:pt x="1343" y="4134"/>
                      <a:pt x="1343" y="4134"/>
                    </a:cubicBezTo>
                    <a:cubicBezTo>
                      <a:pt x="1342" y="4138"/>
                      <a:pt x="1342" y="4138"/>
                      <a:pt x="1342" y="4138"/>
                    </a:cubicBezTo>
                    <a:cubicBezTo>
                      <a:pt x="733" y="4138"/>
                      <a:pt x="733" y="4138"/>
                      <a:pt x="733" y="4138"/>
                    </a:cubicBezTo>
                    <a:cubicBezTo>
                      <a:pt x="724" y="4115"/>
                      <a:pt x="719" y="4089"/>
                      <a:pt x="719" y="4063"/>
                    </a:cubicBezTo>
                    <a:close/>
                    <a:moveTo>
                      <a:pt x="3264" y="4138"/>
                    </a:moveTo>
                    <a:cubicBezTo>
                      <a:pt x="2477" y="4138"/>
                      <a:pt x="2477" y="4138"/>
                      <a:pt x="2477" y="4138"/>
                    </a:cubicBezTo>
                    <a:cubicBezTo>
                      <a:pt x="2227" y="4138"/>
                      <a:pt x="2227" y="4138"/>
                      <a:pt x="2227" y="4138"/>
                    </a:cubicBezTo>
                    <a:cubicBezTo>
                      <a:pt x="1359" y="4138"/>
                      <a:pt x="1359" y="4138"/>
                      <a:pt x="1359" y="4138"/>
                    </a:cubicBezTo>
                    <a:cubicBezTo>
                      <a:pt x="1378" y="4051"/>
                      <a:pt x="1378" y="4051"/>
                      <a:pt x="1378" y="4051"/>
                    </a:cubicBezTo>
                    <a:cubicBezTo>
                      <a:pt x="2227" y="4051"/>
                      <a:pt x="2227" y="4051"/>
                      <a:pt x="2227" y="4051"/>
                    </a:cubicBezTo>
                    <a:cubicBezTo>
                      <a:pt x="2477" y="4051"/>
                      <a:pt x="2477" y="4051"/>
                      <a:pt x="2477" y="4051"/>
                    </a:cubicBezTo>
                    <a:cubicBezTo>
                      <a:pt x="6208" y="4051"/>
                      <a:pt x="6208" y="4051"/>
                      <a:pt x="6208" y="4051"/>
                    </a:cubicBezTo>
                    <a:cubicBezTo>
                      <a:pt x="6227" y="4138"/>
                      <a:pt x="6227" y="4138"/>
                      <a:pt x="6227" y="4138"/>
                    </a:cubicBezTo>
                    <a:cubicBezTo>
                      <a:pt x="4340" y="4138"/>
                      <a:pt x="4340" y="4138"/>
                      <a:pt x="4340" y="4138"/>
                    </a:cubicBezTo>
                    <a:lnTo>
                      <a:pt x="3264" y="4138"/>
                    </a:lnTo>
                    <a:close/>
                    <a:moveTo>
                      <a:pt x="4323" y="4154"/>
                    </a:moveTo>
                    <a:cubicBezTo>
                      <a:pt x="4318" y="4180"/>
                      <a:pt x="4293" y="4224"/>
                      <a:pt x="4248" y="4224"/>
                    </a:cubicBezTo>
                    <a:cubicBezTo>
                      <a:pt x="3355" y="4224"/>
                      <a:pt x="3355" y="4224"/>
                      <a:pt x="3355" y="4224"/>
                    </a:cubicBezTo>
                    <a:cubicBezTo>
                      <a:pt x="3311" y="4224"/>
                      <a:pt x="3285" y="4180"/>
                      <a:pt x="3281" y="4154"/>
                    </a:cubicBezTo>
                    <a:lnTo>
                      <a:pt x="4323" y="4154"/>
                    </a:lnTo>
                    <a:close/>
                    <a:moveTo>
                      <a:pt x="820" y="4035"/>
                    </a:moveTo>
                    <a:cubicBezTo>
                      <a:pt x="785" y="4035"/>
                      <a:pt x="756" y="4006"/>
                      <a:pt x="756" y="3971"/>
                    </a:cubicBezTo>
                    <a:cubicBezTo>
                      <a:pt x="756" y="3598"/>
                      <a:pt x="756" y="3598"/>
                      <a:pt x="756" y="3598"/>
                    </a:cubicBezTo>
                    <a:cubicBezTo>
                      <a:pt x="756" y="3578"/>
                      <a:pt x="756" y="3578"/>
                      <a:pt x="756" y="3578"/>
                    </a:cubicBezTo>
                    <a:cubicBezTo>
                      <a:pt x="756" y="228"/>
                      <a:pt x="756" y="228"/>
                      <a:pt x="756" y="228"/>
                    </a:cubicBezTo>
                    <a:cubicBezTo>
                      <a:pt x="756" y="132"/>
                      <a:pt x="835" y="53"/>
                      <a:pt x="931" y="53"/>
                    </a:cubicBezTo>
                    <a:cubicBezTo>
                      <a:pt x="6673" y="53"/>
                      <a:pt x="6673" y="53"/>
                      <a:pt x="6673" y="53"/>
                    </a:cubicBezTo>
                    <a:cubicBezTo>
                      <a:pt x="6770" y="53"/>
                      <a:pt x="6848" y="132"/>
                      <a:pt x="6848" y="228"/>
                    </a:cubicBezTo>
                    <a:cubicBezTo>
                      <a:pt x="6848" y="3578"/>
                      <a:pt x="6848" y="3578"/>
                      <a:pt x="6848" y="3578"/>
                    </a:cubicBezTo>
                    <a:cubicBezTo>
                      <a:pt x="6848" y="3598"/>
                      <a:pt x="6848" y="3598"/>
                      <a:pt x="6848" y="3598"/>
                    </a:cubicBezTo>
                    <a:cubicBezTo>
                      <a:pt x="6848" y="3971"/>
                      <a:pt x="6848" y="3971"/>
                      <a:pt x="6848" y="3971"/>
                    </a:cubicBezTo>
                    <a:cubicBezTo>
                      <a:pt x="6848" y="4006"/>
                      <a:pt x="6819" y="4035"/>
                      <a:pt x="6784" y="4035"/>
                    </a:cubicBezTo>
                    <a:lnTo>
                      <a:pt x="820" y="4035"/>
                    </a:lnTo>
                    <a:close/>
                    <a:moveTo>
                      <a:pt x="16" y="4154"/>
                    </a:moveTo>
                    <a:cubicBezTo>
                      <a:pt x="1339" y="4154"/>
                      <a:pt x="1339" y="4154"/>
                      <a:pt x="1339" y="4154"/>
                    </a:cubicBezTo>
                    <a:cubicBezTo>
                      <a:pt x="1359" y="4154"/>
                      <a:pt x="1359" y="4154"/>
                      <a:pt x="1359" y="4154"/>
                    </a:cubicBezTo>
                    <a:cubicBezTo>
                      <a:pt x="2227" y="4154"/>
                      <a:pt x="2227" y="4154"/>
                      <a:pt x="2227" y="4154"/>
                    </a:cubicBezTo>
                    <a:cubicBezTo>
                      <a:pt x="2477" y="4154"/>
                      <a:pt x="2477" y="4154"/>
                      <a:pt x="2477" y="4154"/>
                    </a:cubicBezTo>
                    <a:cubicBezTo>
                      <a:pt x="3264" y="4154"/>
                      <a:pt x="3264" y="4154"/>
                      <a:pt x="3264" y="4154"/>
                    </a:cubicBezTo>
                    <a:cubicBezTo>
                      <a:pt x="3269" y="4187"/>
                      <a:pt x="3301" y="4240"/>
                      <a:pt x="3355" y="4240"/>
                    </a:cubicBezTo>
                    <a:cubicBezTo>
                      <a:pt x="4248" y="4240"/>
                      <a:pt x="4248" y="4240"/>
                      <a:pt x="4248" y="4240"/>
                    </a:cubicBezTo>
                    <a:cubicBezTo>
                      <a:pt x="4303" y="4240"/>
                      <a:pt x="4334" y="4187"/>
                      <a:pt x="4339" y="4154"/>
                    </a:cubicBezTo>
                    <a:cubicBezTo>
                      <a:pt x="6227" y="4154"/>
                      <a:pt x="6227" y="4154"/>
                      <a:pt x="6227" y="4154"/>
                    </a:cubicBezTo>
                    <a:cubicBezTo>
                      <a:pt x="6247" y="4154"/>
                      <a:pt x="6247" y="4154"/>
                      <a:pt x="6247" y="4154"/>
                    </a:cubicBezTo>
                    <a:cubicBezTo>
                      <a:pt x="7588" y="4154"/>
                      <a:pt x="7588" y="4154"/>
                      <a:pt x="7588" y="4154"/>
                    </a:cubicBezTo>
                    <a:cubicBezTo>
                      <a:pt x="7588" y="4269"/>
                      <a:pt x="7588" y="4269"/>
                      <a:pt x="7588" y="4269"/>
                    </a:cubicBezTo>
                    <a:cubicBezTo>
                      <a:pt x="7588" y="4271"/>
                      <a:pt x="7588" y="4273"/>
                      <a:pt x="7587" y="4273"/>
                    </a:cubicBezTo>
                    <a:cubicBezTo>
                      <a:pt x="7585" y="4275"/>
                      <a:pt x="7583" y="4276"/>
                      <a:pt x="7581" y="4278"/>
                    </a:cubicBezTo>
                    <a:cubicBezTo>
                      <a:pt x="22" y="4278"/>
                      <a:pt x="22" y="4278"/>
                      <a:pt x="22" y="4278"/>
                    </a:cubicBezTo>
                    <a:cubicBezTo>
                      <a:pt x="21" y="4277"/>
                      <a:pt x="19" y="4276"/>
                      <a:pt x="18" y="4275"/>
                    </a:cubicBezTo>
                    <a:cubicBezTo>
                      <a:pt x="16" y="4274"/>
                      <a:pt x="16" y="4272"/>
                      <a:pt x="16" y="4268"/>
                    </a:cubicBezTo>
                    <a:lnTo>
                      <a:pt x="16" y="4154"/>
                    </a:lnTo>
                    <a:close/>
                    <a:moveTo>
                      <a:pt x="7257" y="4366"/>
                    </a:moveTo>
                    <a:cubicBezTo>
                      <a:pt x="346" y="4366"/>
                      <a:pt x="346" y="4366"/>
                      <a:pt x="346" y="4366"/>
                    </a:cubicBezTo>
                    <a:cubicBezTo>
                      <a:pt x="222" y="4366"/>
                      <a:pt x="109" y="4327"/>
                      <a:pt x="48" y="4294"/>
                    </a:cubicBezTo>
                    <a:cubicBezTo>
                      <a:pt x="7555" y="4294"/>
                      <a:pt x="7555" y="4294"/>
                      <a:pt x="7555" y="4294"/>
                    </a:cubicBezTo>
                    <a:cubicBezTo>
                      <a:pt x="7494" y="4327"/>
                      <a:pt x="7382" y="4366"/>
                      <a:pt x="7257" y="43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338E8067-3F53-8030-9B5D-3B8E82D8B0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45199" y="2701131"/>
                <a:ext cx="12295188" cy="7808913"/>
              </a:xfrm>
              <a:custGeom>
                <a:avLst/>
                <a:gdLst>
                  <a:gd name="T0" fmla="*/ 5797 w 5817"/>
                  <a:gd name="T1" fmla="*/ 0 h 3653"/>
                  <a:gd name="T2" fmla="*/ 20 w 5817"/>
                  <a:gd name="T3" fmla="*/ 0 h 3653"/>
                  <a:gd name="T4" fmla="*/ 0 w 5817"/>
                  <a:gd name="T5" fmla="*/ 20 h 3653"/>
                  <a:gd name="T6" fmla="*/ 0 w 5817"/>
                  <a:gd name="T7" fmla="*/ 3633 h 3653"/>
                  <a:gd name="T8" fmla="*/ 20 w 5817"/>
                  <a:gd name="T9" fmla="*/ 3653 h 3653"/>
                  <a:gd name="T10" fmla="*/ 5797 w 5817"/>
                  <a:gd name="T11" fmla="*/ 3653 h 3653"/>
                  <a:gd name="T12" fmla="*/ 5817 w 5817"/>
                  <a:gd name="T13" fmla="*/ 3633 h 3653"/>
                  <a:gd name="T14" fmla="*/ 5817 w 5817"/>
                  <a:gd name="T15" fmla="*/ 20 h 3653"/>
                  <a:gd name="T16" fmla="*/ 5797 w 5817"/>
                  <a:gd name="T17" fmla="*/ 0 h 3653"/>
                  <a:gd name="T18" fmla="*/ 5797 w 5817"/>
                  <a:gd name="T19" fmla="*/ 3633 h 3653"/>
                  <a:gd name="T20" fmla="*/ 20 w 5817"/>
                  <a:gd name="T21" fmla="*/ 3633 h 3653"/>
                  <a:gd name="T22" fmla="*/ 20 w 5817"/>
                  <a:gd name="T23" fmla="*/ 20 h 3653"/>
                  <a:gd name="T24" fmla="*/ 5797 w 5817"/>
                  <a:gd name="T25" fmla="*/ 20 h 3653"/>
                  <a:gd name="T26" fmla="*/ 5797 w 5817"/>
                  <a:gd name="T27" fmla="*/ 3633 h 3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17" h="3653">
                    <a:moveTo>
                      <a:pt x="5797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633"/>
                      <a:pt x="0" y="3633"/>
                      <a:pt x="0" y="3633"/>
                    </a:cubicBezTo>
                    <a:cubicBezTo>
                      <a:pt x="0" y="3644"/>
                      <a:pt x="9" y="3653"/>
                      <a:pt x="20" y="3653"/>
                    </a:cubicBezTo>
                    <a:cubicBezTo>
                      <a:pt x="5797" y="3653"/>
                      <a:pt x="5797" y="3653"/>
                      <a:pt x="5797" y="3653"/>
                    </a:cubicBezTo>
                    <a:cubicBezTo>
                      <a:pt x="5808" y="3653"/>
                      <a:pt x="5817" y="3644"/>
                      <a:pt x="5817" y="3633"/>
                    </a:cubicBezTo>
                    <a:cubicBezTo>
                      <a:pt x="5817" y="20"/>
                      <a:pt x="5817" y="20"/>
                      <a:pt x="5817" y="20"/>
                    </a:cubicBezTo>
                    <a:cubicBezTo>
                      <a:pt x="5817" y="9"/>
                      <a:pt x="5808" y="0"/>
                      <a:pt x="5797" y="0"/>
                    </a:cubicBezTo>
                    <a:close/>
                    <a:moveTo>
                      <a:pt x="5797" y="3633"/>
                    </a:moveTo>
                    <a:cubicBezTo>
                      <a:pt x="20" y="3633"/>
                      <a:pt x="20" y="3633"/>
                      <a:pt x="20" y="3633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5797" y="20"/>
                      <a:pt x="5797" y="20"/>
                      <a:pt x="5797" y="20"/>
                    </a:cubicBezTo>
                    <a:lnTo>
                      <a:pt x="5797" y="36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963F92F2-564D-9F19-D2E2-58D1861533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128499" y="2448718"/>
                <a:ext cx="134938" cy="136525"/>
              </a:xfrm>
              <a:custGeom>
                <a:avLst/>
                <a:gdLst>
                  <a:gd name="T0" fmla="*/ 32 w 64"/>
                  <a:gd name="T1" fmla="*/ 64 h 64"/>
                  <a:gd name="T2" fmla="*/ 64 w 64"/>
                  <a:gd name="T3" fmla="*/ 32 h 64"/>
                  <a:gd name="T4" fmla="*/ 32 w 64"/>
                  <a:gd name="T5" fmla="*/ 0 h 64"/>
                  <a:gd name="T6" fmla="*/ 0 w 64"/>
                  <a:gd name="T7" fmla="*/ 32 h 64"/>
                  <a:gd name="T8" fmla="*/ 32 w 64"/>
                  <a:gd name="T9" fmla="*/ 64 h 64"/>
                  <a:gd name="T10" fmla="*/ 32 w 64"/>
                  <a:gd name="T11" fmla="*/ 16 h 64"/>
                  <a:gd name="T12" fmla="*/ 48 w 64"/>
                  <a:gd name="T13" fmla="*/ 32 h 64"/>
                  <a:gd name="T14" fmla="*/ 32 w 64"/>
                  <a:gd name="T15" fmla="*/ 48 h 64"/>
                  <a:gd name="T16" fmla="*/ 16 w 64"/>
                  <a:gd name="T17" fmla="*/ 32 h 64"/>
                  <a:gd name="T18" fmla="*/ 32 w 64"/>
                  <a:gd name="T19" fmla="*/ 1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64">
                    <a:moveTo>
                      <a:pt x="32" y="64"/>
                    </a:moveTo>
                    <a:cubicBezTo>
                      <a:pt x="50" y="64"/>
                      <a:pt x="64" y="50"/>
                      <a:pt x="64" y="32"/>
                    </a:cubicBezTo>
                    <a:cubicBezTo>
                      <a:pt x="64" y="15"/>
                      <a:pt x="50" y="0"/>
                      <a:pt x="32" y="0"/>
                    </a:cubicBezTo>
                    <a:cubicBezTo>
                      <a:pt x="15" y="0"/>
                      <a:pt x="0" y="15"/>
                      <a:pt x="0" y="32"/>
                    </a:cubicBezTo>
                    <a:cubicBezTo>
                      <a:pt x="0" y="50"/>
                      <a:pt x="15" y="64"/>
                      <a:pt x="32" y="64"/>
                    </a:cubicBezTo>
                    <a:close/>
                    <a:moveTo>
                      <a:pt x="32" y="16"/>
                    </a:moveTo>
                    <a:cubicBezTo>
                      <a:pt x="41" y="16"/>
                      <a:pt x="48" y="24"/>
                      <a:pt x="48" y="32"/>
                    </a:cubicBezTo>
                    <a:cubicBezTo>
                      <a:pt x="48" y="41"/>
                      <a:pt x="41" y="48"/>
                      <a:pt x="32" y="48"/>
                    </a:cubicBezTo>
                    <a:cubicBezTo>
                      <a:pt x="23" y="48"/>
                      <a:pt x="16" y="41"/>
                      <a:pt x="16" y="32"/>
                    </a:cubicBezTo>
                    <a:cubicBezTo>
                      <a:pt x="16" y="24"/>
                      <a:pt x="23" y="16"/>
                      <a:pt x="3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76A6B05-EB2B-5098-F08A-E1CDE9C21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3737" y="11413331"/>
                <a:ext cx="204788" cy="73025"/>
              </a:xfrm>
              <a:custGeom>
                <a:avLst/>
                <a:gdLst>
                  <a:gd name="T0" fmla="*/ 52 w 97"/>
                  <a:gd name="T1" fmla="*/ 34 h 34"/>
                  <a:gd name="T2" fmla="*/ 52 w 97"/>
                  <a:gd name="T3" fmla="*/ 34 h 34"/>
                  <a:gd name="T4" fmla="*/ 57 w 97"/>
                  <a:gd name="T5" fmla="*/ 34 h 34"/>
                  <a:gd name="T6" fmla="*/ 95 w 97"/>
                  <a:gd name="T7" fmla="*/ 22 h 34"/>
                  <a:gd name="T8" fmla="*/ 93 w 97"/>
                  <a:gd name="T9" fmla="*/ 11 h 34"/>
                  <a:gd name="T10" fmla="*/ 45 w 97"/>
                  <a:gd name="T11" fmla="*/ 0 h 34"/>
                  <a:gd name="T12" fmla="*/ 40 w 97"/>
                  <a:gd name="T13" fmla="*/ 0 h 34"/>
                  <a:gd name="T14" fmla="*/ 2 w 97"/>
                  <a:gd name="T15" fmla="*/ 12 h 34"/>
                  <a:gd name="T16" fmla="*/ 4 w 97"/>
                  <a:gd name="T17" fmla="*/ 24 h 34"/>
                  <a:gd name="T18" fmla="*/ 52 w 97"/>
                  <a:gd name="T19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7" h="34">
                    <a:moveTo>
                      <a:pt x="52" y="34"/>
                    </a:moveTo>
                    <a:cubicBezTo>
                      <a:pt x="52" y="34"/>
                      <a:pt x="52" y="34"/>
                      <a:pt x="52" y="34"/>
                    </a:cubicBezTo>
                    <a:cubicBezTo>
                      <a:pt x="54" y="34"/>
                      <a:pt x="55" y="34"/>
                      <a:pt x="57" y="34"/>
                    </a:cubicBezTo>
                    <a:cubicBezTo>
                      <a:pt x="79" y="34"/>
                      <a:pt x="92" y="30"/>
                      <a:pt x="95" y="22"/>
                    </a:cubicBezTo>
                    <a:cubicBezTo>
                      <a:pt x="97" y="18"/>
                      <a:pt x="96" y="14"/>
                      <a:pt x="93" y="11"/>
                    </a:cubicBezTo>
                    <a:cubicBezTo>
                      <a:pt x="84" y="1"/>
                      <a:pt x="52" y="0"/>
                      <a:pt x="45" y="0"/>
                    </a:cubicBezTo>
                    <a:cubicBezTo>
                      <a:pt x="44" y="0"/>
                      <a:pt x="42" y="0"/>
                      <a:pt x="40" y="0"/>
                    </a:cubicBezTo>
                    <a:cubicBezTo>
                      <a:pt x="18" y="1"/>
                      <a:pt x="5" y="5"/>
                      <a:pt x="2" y="12"/>
                    </a:cubicBezTo>
                    <a:cubicBezTo>
                      <a:pt x="0" y="16"/>
                      <a:pt x="1" y="20"/>
                      <a:pt x="4" y="24"/>
                    </a:cubicBezTo>
                    <a:cubicBezTo>
                      <a:pt x="13" y="34"/>
                      <a:pt x="46" y="34"/>
                      <a:pt x="5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BE0ECB3D-D1CF-52DF-634F-760B91ABE5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78012" y="11413331"/>
                <a:ext cx="204788" cy="73025"/>
              </a:xfrm>
              <a:custGeom>
                <a:avLst/>
                <a:gdLst>
                  <a:gd name="T0" fmla="*/ 40 w 97"/>
                  <a:gd name="T1" fmla="*/ 34 h 34"/>
                  <a:gd name="T2" fmla="*/ 45 w 97"/>
                  <a:gd name="T3" fmla="*/ 34 h 34"/>
                  <a:gd name="T4" fmla="*/ 93 w 97"/>
                  <a:gd name="T5" fmla="*/ 24 h 34"/>
                  <a:gd name="T6" fmla="*/ 95 w 97"/>
                  <a:gd name="T7" fmla="*/ 12 h 34"/>
                  <a:gd name="T8" fmla="*/ 57 w 97"/>
                  <a:gd name="T9" fmla="*/ 0 h 34"/>
                  <a:gd name="T10" fmla="*/ 52 w 97"/>
                  <a:gd name="T11" fmla="*/ 0 h 34"/>
                  <a:gd name="T12" fmla="*/ 4 w 97"/>
                  <a:gd name="T13" fmla="*/ 11 h 34"/>
                  <a:gd name="T14" fmla="*/ 2 w 97"/>
                  <a:gd name="T15" fmla="*/ 22 h 34"/>
                  <a:gd name="T16" fmla="*/ 40 w 97"/>
                  <a:gd name="T1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" h="34">
                    <a:moveTo>
                      <a:pt x="40" y="34"/>
                    </a:moveTo>
                    <a:cubicBezTo>
                      <a:pt x="42" y="34"/>
                      <a:pt x="44" y="34"/>
                      <a:pt x="45" y="34"/>
                    </a:cubicBezTo>
                    <a:cubicBezTo>
                      <a:pt x="52" y="34"/>
                      <a:pt x="84" y="34"/>
                      <a:pt x="93" y="24"/>
                    </a:cubicBezTo>
                    <a:cubicBezTo>
                      <a:pt x="96" y="20"/>
                      <a:pt x="97" y="16"/>
                      <a:pt x="95" y="12"/>
                    </a:cubicBezTo>
                    <a:cubicBezTo>
                      <a:pt x="92" y="5"/>
                      <a:pt x="79" y="1"/>
                      <a:pt x="57" y="0"/>
                    </a:cubicBezTo>
                    <a:cubicBezTo>
                      <a:pt x="55" y="0"/>
                      <a:pt x="54" y="0"/>
                      <a:pt x="52" y="0"/>
                    </a:cubicBezTo>
                    <a:cubicBezTo>
                      <a:pt x="46" y="0"/>
                      <a:pt x="13" y="1"/>
                      <a:pt x="4" y="11"/>
                    </a:cubicBezTo>
                    <a:cubicBezTo>
                      <a:pt x="1" y="14"/>
                      <a:pt x="0" y="18"/>
                      <a:pt x="2" y="22"/>
                    </a:cubicBezTo>
                    <a:cubicBezTo>
                      <a:pt x="5" y="30"/>
                      <a:pt x="18" y="34"/>
                      <a:pt x="40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08F319B-908C-CEBA-BFBE-64EEC2BC6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4707" y="1937406"/>
              <a:ext cx="4506293" cy="2781463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27F9-F646-8454-5D26-281C0AF75DA3}"/>
              </a:ext>
            </a:extLst>
          </p:cNvPr>
          <p:cNvSpPr/>
          <p:nvPr/>
        </p:nvSpPr>
        <p:spPr>
          <a:xfrm>
            <a:off x="564900" y="1323521"/>
            <a:ext cx="4205487" cy="2522975"/>
          </a:xfrm>
          <a:prstGeom prst="rect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D1CDA0-4501-E70E-BC8F-A44B1DCEF4CD}"/>
              </a:ext>
            </a:extLst>
          </p:cNvPr>
          <p:cNvSpPr txBox="1"/>
          <p:nvPr/>
        </p:nvSpPr>
        <p:spPr>
          <a:xfrm>
            <a:off x="1668609" y="1382076"/>
            <a:ext cx="2827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1) Closing Price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2) Volume traded 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AA2EAB-B82F-01D9-9CD9-3C020A7B4FE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7372" y="3166497"/>
            <a:ext cx="620649" cy="5393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BB795B-C513-0699-131A-BA51BB0F9DD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5031" y="1472210"/>
            <a:ext cx="622990" cy="5451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7A4D783-7064-9948-F93A-779B56A2F8E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2388" y="2306046"/>
            <a:ext cx="559093" cy="545115"/>
          </a:xfrm>
          <a:prstGeom prst="rect">
            <a:avLst/>
          </a:prstGeom>
        </p:spPr>
      </p:pic>
      <p:pic>
        <p:nvPicPr>
          <p:cNvPr id="2054" name="Picture 6" descr="Palantir IR">
            <a:extLst>
              <a:ext uri="{FF2B5EF4-FFF2-40B4-BE49-F238E27FC236}">
                <a16:creationId xmlns:a16="http://schemas.microsoft.com/office/drawing/2014/main" id="{DF1A912B-8281-37C3-7997-CDFAC1E90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098" y="1811448"/>
            <a:ext cx="859315" cy="20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CD7D245-D1DC-3893-DF2E-B34E633D0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436" y="1763285"/>
            <a:ext cx="1076016" cy="30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Palantir IR">
            <a:extLst>
              <a:ext uri="{FF2B5EF4-FFF2-40B4-BE49-F238E27FC236}">
                <a16:creationId xmlns:a16="http://schemas.microsoft.com/office/drawing/2014/main" id="{FA020D6D-B6F3-55D1-8A17-22E0D8DB0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098" y="2627554"/>
            <a:ext cx="859315" cy="20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07F50AF8-EC93-F215-B5FF-5DB334E93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941" y="2552972"/>
            <a:ext cx="1076016" cy="30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riangle 25">
            <a:extLst>
              <a:ext uri="{FF2B5EF4-FFF2-40B4-BE49-F238E27FC236}">
                <a16:creationId xmlns:a16="http://schemas.microsoft.com/office/drawing/2014/main" id="{627EB108-6781-A52D-A3A2-629850B75FE3}"/>
              </a:ext>
            </a:extLst>
          </p:cNvPr>
          <p:cNvSpPr/>
          <p:nvPr/>
        </p:nvSpPr>
        <p:spPr>
          <a:xfrm rot="10800000">
            <a:off x="761498" y="3018077"/>
            <a:ext cx="3749451" cy="205876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5803107-E1CE-41E7-9D70-31B9C66B812C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9886" y="5091049"/>
            <a:ext cx="951336" cy="90000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9CBF7CF-9E9E-E300-0677-A114EC972E9F}"/>
              </a:ext>
            </a:extLst>
          </p:cNvPr>
          <p:cNvSpPr txBox="1"/>
          <p:nvPr/>
        </p:nvSpPr>
        <p:spPr>
          <a:xfrm>
            <a:off x="1668609" y="3280221"/>
            <a:ext cx="20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3) Moving Average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69D017-8E00-27A7-586B-0820FCA2EF40}"/>
              </a:ext>
            </a:extLst>
          </p:cNvPr>
          <p:cNvSpPr txBox="1"/>
          <p:nvPr/>
        </p:nvSpPr>
        <p:spPr>
          <a:xfrm>
            <a:off x="1669021" y="4224705"/>
            <a:ext cx="724699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4) Technical Indicators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RSI-14: Measures if the stock is overbought or oversold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MACD: Shows trend strength by comparing fast vs slow moving averages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MACD Signal: Smoothed MACD used to trigger buy/sell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MACD Histogram: Difference between MACD and Signal; shows momentum.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Bollinger Band Width: Measures volatility (wide = high volatility).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ROC-10: Percent change from 10 days ago (momentum)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ATR-14: Average size of daily price moves (volatility)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Stochastic-K: Shows where today’s price sits between recent high/low (momentum)</a:t>
            </a:r>
          </a:p>
        </p:txBody>
      </p:sp>
      <p:sp>
        <p:nvSpPr>
          <p:cNvPr id="38" name="Gleichschenkliges Dreieck 204">
            <a:extLst>
              <a:ext uri="{FF2B5EF4-FFF2-40B4-BE49-F238E27FC236}">
                <a16:creationId xmlns:a16="http://schemas.microsoft.com/office/drawing/2014/main" id="{C7FB59BF-1389-0AD0-A597-2E6D4D456CC6}"/>
              </a:ext>
            </a:extLst>
          </p:cNvPr>
          <p:cNvSpPr/>
          <p:nvPr/>
        </p:nvSpPr>
        <p:spPr bwMode="auto">
          <a:xfrm>
            <a:off x="5217527" y="3536201"/>
            <a:ext cx="3527702" cy="584480"/>
          </a:xfrm>
          <a:prstGeom prst="triangle">
            <a:avLst>
              <a:gd name="adj" fmla="val 84208"/>
            </a:avLst>
          </a:prstGeom>
          <a:solidFill>
            <a:srgbClr val="F2F2F2">
              <a:alpha val="47059"/>
            </a:srgbClr>
          </a:solidFill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3297" tIns="46649" rIns="93297" bIns="4664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24" dirty="0">
              <a:solidFill>
                <a:schemeClr val="tx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A6030A14-DA60-B0D8-F7EC-05B0FADE1C2A}"/>
              </a:ext>
            </a:extLst>
          </p:cNvPr>
          <p:cNvCxnSpPr>
            <a:cxnSpLocks/>
          </p:cNvCxnSpPr>
          <p:nvPr/>
        </p:nvCxnSpPr>
        <p:spPr>
          <a:xfrm rot="16200000" flipV="1">
            <a:off x="9673178" y="2832278"/>
            <a:ext cx="2146787" cy="1094320"/>
          </a:xfrm>
          <a:prstGeom prst="curvedConnector2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8" name="Picture 10">
            <a:extLst>
              <a:ext uri="{FF2B5EF4-FFF2-40B4-BE49-F238E27FC236}">
                <a16:creationId xmlns:a16="http://schemas.microsoft.com/office/drawing/2014/main" id="{964DA1E6-221D-6FB1-BD25-744ABCBCC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206" y="4522034"/>
            <a:ext cx="2958001" cy="108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 descr="UW Logo PNG Black – OOI Regional Cabled Array">
            <a:extLst>
              <a:ext uri="{FF2B5EF4-FFF2-40B4-BE49-F238E27FC236}">
                <a16:creationId xmlns:a16="http://schemas.microsoft.com/office/drawing/2014/main" id="{A9D68E4A-2E50-DE7F-B861-08335A210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505" y="193700"/>
            <a:ext cx="719167" cy="48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38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EB2B-AE90-11C3-D5C0-BAF82F77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46F08F-C7CA-67BB-BE4C-01E4F095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60001"/>
            <a:ext cx="8958880" cy="4842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Model walkthrough</a:t>
            </a:r>
          </a:p>
        </p:txBody>
      </p:sp>
      <p:pic>
        <p:nvPicPr>
          <p:cNvPr id="2050" name="Picture 2" descr="Palantir icon - Free Download PNG &amp; SVG | Streamline">
            <a:extLst>
              <a:ext uri="{FF2B5EF4-FFF2-40B4-BE49-F238E27FC236}">
                <a16:creationId xmlns:a16="http://schemas.microsoft.com/office/drawing/2014/main" id="{4898B7B9-0188-3DFC-BAA4-E38577C7F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110" y="122772"/>
            <a:ext cx="626097" cy="6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7A612B-062F-BF19-0BF8-18555D65A628}"/>
              </a:ext>
            </a:extLst>
          </p:cNvPr>
          <p:cNvSpPr txBox="1"/>
          <p:nvPr/>
        </p:nvSpPr>
        <p:spPr>
          <a:xfrm>
            <a:off x="94536" y="1472249"/>
            <a:ext cx="461777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Data loading and cleaning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Creating and </a:t>
            </a:r>
          </a:p>
          <a:p>
            <a:pPr algn="ctr"/>
            <a:r>
              <a:rPr lang="en-US" sz="2400" dirty="0"/>
              <a:t>selecting features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Scale and Split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Sequencing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LSTM Architecture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Training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Evaluate and Predict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C796955-3CB4-25DF-49A8-6A9BDD8321EB}"/>
              </a:ext>
            </a:extLst>
          </p:cNvPr>
          <p:cNvSpPr/>
          <p:nvPr/>
        </p:nvSpPr>
        <p:spPr>
          <a:xfrm rot="5400000">
            <a:off x="2117725" y="1900219"/>
            <a:ext cx="216939" cy="28596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BF5C2465-684C-67FB-2079-CDA08C1A58B0}"/>
              </a:ext>
            </a:extLst>
          </p:cNvPr>
          <p:cNvSpPr/>
          <p:nvPr/>
        </p:nvSpPr>
        <p:spPr>
          <a:xfrm rot="5400000">
            <a:off x="2117725" y="3034193"/>
            <a:ext cx="216939" cy="28596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8C9C94CA-F91A-1C46-67F7-D6B9E08A6937}"/>
              </a:ext>
            </a:extLst>
          </p:cNvPr>
          <p:cNvSpPr/>
          <p:nvPr/>
        </p:nvSpPr>
        <p:spPr>
          <a:xfrm rot="5400000">
            <a:off x="2117725" y="3765369"/>
            <a:ext cx="216939" cy="28596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4DFCF14-2E37-1F8C-4D05-63B0323CAE5A}"/>
              </a:ext>
            </a:extLst>
          </p:cNvPr>
          <p:cNvSpPr/>
          <p:nvPr/>
        </p:nvSpPr>
        <p:spPr>
          <a:xfrm rot="5400000">
            <a:off x="2117725" y="5884511"/>
            <a:ext cx="216939" cy="28596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A9F90842-F2A7-B226-1534-DF33BF791A74}"/>
              </a:ext>
            </a:extLst>
          </p:cNvPr>
          <p:cNvSpPr/>
          <p:nvPr/>
        </p:nvSpPr>
        <p:spPr>
          <a:xfrm rot="5400000">
            <a:off x="2117725" y="5197610"/>
            <a:ext cx="216939" cy="28596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5829F30-428C-A0C2-3382-66E8A17AF9C0}"/>
              </a:ext>
            </a:extLst>
          </p:cNvPr>
          <p:cNvSpPr/>
          <p:nvPr/>
        </p:nvSpPr>
        <p:spPr>
          <a:xfrm rot="5400000">
            <a:off x="2117725" y="4484214"/>
            <a:ext cx="216939" cy="28596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FDE3CA-E3C1-5F2D-18F1-59C7564FA15F}"/>
              </a:ext>
            </a:extLst>
          </p:cNvPr>
          <p:cNvSpPr/>
          <p:nvPr/>
        </p:nvSpPr>
        <p:spPr>
          <a:xfrm>
            <a:off x="349749" y="1513518"/>
            <a:ext cx="307911" cy="307911"/>
          </a:xfrm>
          <a:prstGeom prst="ellipse">
            <a:avLst/>
          </a:prstGeom>
          <a:solidFill>
            <a:srgbClr val="42D90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84C9B0E-D149-DEF2-13AA-53F554125ADD}"/>
              </a:ext>
            </a:extLst>
          </p:cNvPr>
          <p:cNvSpPr/>
          <p:nvPr/>
        </p:nvSpPr>
        <p:spPr>
          <a:xfrm>
            <a:off x="1181204" y="2257019"/>
            <a:ext cx="307911" cy="307911"/>
          </a:xfrm>
          <a:prstGeom prst="ellipse">
            <a:avLst/>
          </a:prstGeom>
          <a:solidFill>
            <a:srgbClr val="42D90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65A71-417B-DBE5-8185-B6FD6BA3E6A7}"/>
              </a:ext>
            </a:extLst>
          </p:cNvPr>
          <p:cNvSpPr/>
          <p:nvPr/>
        </p:nvSpPr>
        <p:spPr>
          <a:xfrm>
            <a:off x="853197" y="4824618"/>
            <a:ext cx="307911" cy="307911"/>
          </a:xfrm>
          <a:prstGeom prst="ellipse">
            <a:avLst/>
          </a:prstGeom>
          <a:solidFill>
            <a:srgbClr val="42D90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76F412B-7567-D2E0-8350-A438295930DD}"/>
              </a:ext>
            </a:extLst>
          </p:cNvPr>
          <p:cNvSpPr/>
          <p:nvPr/>
        </p:nvSpPr>
        <p:spPr>
          <a:xfrm>
            <a:off x="1543749" y="5530555"/>
            <a:ext cx="307911" cy="307911"/>
          </a:xfrm>
          <a:prstGeom prst="ellipse">
            <a:avLst/>
          </a:prstGeom>
          <a:solidFill>
            <a:srgbClr val="42D90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60D588-B6EE-F290-BC8F-F50186B2BE71}"/>
              </a:ext>
            </a:extLst>
          </p:cNvPr>
          <p:cNvSpPr txBox="1"/>
          <p:nvPr/>
        </p:nvSpPr>
        <p:spPr>
          <a:xfrm>
            <a:off x="5147748" y="1586898"/>
            <a:ext cx="6878190" cy="4924425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Creation of futures:</a:t>
            </a:r>
          </a:p>
          <a:p>
            <a:pPr marL="742950" lvl="1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4BEC08"/>
                </a:solidFill>
              </a:rPr>
              <a:t>Palantir </a:t>
            </a:r>
            <a:r>
              <a:rPr lang="en-US" sz="1600" dirty="0">
                <a:solidFill>
                  <a:schemeClr val="bg1"/>
                </a:solidFill>
              </a:rPr>
              <a:t>historical data: Closing price, Volume, 5/10/20-day Moving Averages</a:t>
            </a:r>
          </a:p>
          <a:p>
            <a:pPr marL="742950" lvl="1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4BEC08"/>
                </a:solidFill>
              </a:rPr>
              <a:t>NASDAQ </a:t>
            </a:r>
            <a:r>
              <a:rPr lang="en-US" sz="1600" dirty="0">
                <a:solidFill>
                  <a:schemeClr val="bg1"/>
                </a:solidFill>
              </a:rPr>
              <a:t>historical data: Closing Price, Volume, 1 day and 5 day returns</a:t>
            </a:r>
          </a:p>
          <a:p>
            <a:pPr marL="742950" lvl="1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4BEC08"/>
                </a:solidFill>
              </a:rPr>
              <a:t>Technical indicators</a:t>
            </a:r>
            <a:r>
              <a:rPr lang="en-US" sz="1600" dirty="0">
                <a:solidFill>
                  <a:schemeClr val="bg1"/>
                </a:solidFill>
              </a:rPr>
              <a:t>: RSI-14, MACD, MACD Signal, MACD Histogram, Bollinger Band Width, ROC-10, ATR-14, Stochastic-K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Split = All rows but the last 100 (test set) are used for the training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Introduction of </a:t>
            </a:r>
            <a:r>
              <a:rPr lang="en-US" sz="1600" b="1" dirty="0">
                <a:solidFill>
                  <a:srgbClr val="4BEC08"/>
                </a:solidFill>
              </a:rPr>
              <a:t>2-layer LSTM </a:t>
            </a:r>
            <a:r>
              <a:rPr lang="en-US" sz="1600" dirty="0">
                <a:solidFill>
                  <a:schemeClr val="bg1"/>
                </a:solidFill>
              </a:rPr>
              <a:t>model that is fed with 60 days and  the defined features. Model learns trends. At every time stamp the model creates a hidden state. The final one is used as representation for the recent market dynamics. Same hidden state is then delivered to 2 states:</a:t>
            </a:r>
          </a:p>
          <a:p>
            <a:pPr marL="742950" lvl="1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4BEC08"/>
                </a:solidFill>
              </a:rPr>
              <a:t>Regression state</a:t>
            </a:r>
            <a:r>
              <a:rPr lang="en-US" sz="1600" dirty="0">
                <a:solidFill>
                  <a:schemeClr val="bg1"/>
                </a:solidFill>
              </a:rPr>
              <a:t>: Output is the next day closing price </a:t>
            </a:r>
          </a:p>
          <a:p>
            <a:pPr marL="742950" lvl="1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4BEC08"/>
                </a:solidFill>
              </a:rPr>
              <a:t>Classification State</a:t>
            </a:r>
            <a:r>
              <a:rPr lang="en-US" sz="1600" dirty="0">
                <a:solidFill>
                  <a:schemeClr val="bg1"/>
                </a:solidFill>
              </a:rPr>
              <a:t>: Using Sigmoid. Output 0 or 1. This is the probability for going up or down.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Used </a:t>
            </a:r>
            <a:r>
              <a:rPr lang="en-US" sz="1600" b="1" dirty="0">
                <a:solidFill>
                  <a:srgbClr val="4BEC08"/>
                </a:solidFill>
              </a:rPr>
              <a:t>Adam optimizer</a:t>
            </a:r>
            <a:r>
              <a:rPr lang="en-US" sz="1600" dirty="0">
                <a:solidFill>
                  <a:srgbClr val="4BEC08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and mini-batches for stable convergence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7ACC79-244D-9E96-F340-1F755B5444E8}"/>
              </a:ext>
            </a:extLst>
          </p:cNvPr>
          <p:cNvSpPr/>
          <p:nvPr/>
        </p:nvSpPr>
        <p:spPr>
          <a:xfrm>
            <a:off x="5194097" y="1646808"/>
            <a:ext cx="238381" cy="238381"/>
          </a:xfrm>
          <a:prstGeom prst="ellipse">
            <a:avLst/>
          </a:prstGeom>
          <a:solidFill>
            <a:srgbClr val="42D90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C3DBC98-7DE8-37A9-84BF-877EFD61C417}"/>
              </a:ext>
            </a:extLst>
          </p:cNvPr>
          <p:cNvSpPr/>
          <p:nvPr/>
        </p:nvSpPr>
        <p:spPr>
          <a:xfrm>
            <a:off x="5194095" y="3586824"/>
            <a:ext cx="238381" cy="238381"/>
          </a:xfrm>
          <a:prstGeom prst="ellipse">
            <a:avLst/>
          </a:prstGeom>
          <a:solidFill>
            <a:srgbClr val="42D90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AB42313-B4C9-09A5-CBCF-BC5B31F06FE9}"/>
              </a:ext>
            </a:extLst>
          </p:cNvPr>
          <p:cNvSpPr/>
          <p:nvPr/>
        </p:nvSpPr>
        <p:spPr>
          <a:xfrm>
            <a:off x="5194096" y="4049110"/>
            <a:ext cx="238381" cy="238381"/>
          </a:xfrm>
          <a:prstGeom prst="ellipse">
            <a:avLst/>
          </a:prstGeom>
          <a:solidFill>
            <a:srgbClr val="42D90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ABBDFD2-915D-A750-650D-52EEC308E33C}"/>
              </a:ext>
            </a:extLst>
          </p:cNvPr>
          <p:cNvSpPr/>
          <p:nvPr/>
        </p:nvSpPr>
        <p:spPr>
          <a:xfrm>
            <a:off x="5194094" y="6016772"/>
            <a:ext cx="238381" cy="238381"/>
          </a:xfrm>
          <a:prstGeom prst="ellipse">
            <a:avLst/>
          </a:prstGeom>
          <a:solidFill>
            <a:srgbClr val="42D90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33" name="Picture 16" descr="UW Logo PNG Black – OOI Regional Cabled Array">
            <a:extLst>
              <a:ext uri="{FF2B5EF4-FFF2-40B4-BE49-F238E27FC236}">
                <a16:creationId xmlns:a16="http://schemas.microsoft.com/office/drawing/2014/main" id="{086A5309-A7B9-4087-3FCF-A0967D70C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505" y="193700"/>
            <a:ext cx="719167" cy="48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47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B459-831F-E42E-A80A-020338364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62235B-0A12-0F3F-E988-3BD16DA1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60001"/>
            <a:ext cx="8958880" cy="4842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Results: good but not perfect</a:t>
            </a:r>
          </a:p>
        </p:txBody>
      </p:sp>
      <p:pic>
        <p:nvPicPr>
          <p:cNvPr id="2050" name="Picture 2" descr="Palantir icon - Free Download PNG &amp; SVG | Streamline">
            <a:extLst>
              <a:ext uri="{FF2B5EF4-FFF2-40B4-BE49-F238E27FC236}">
                <a16:creationId xmlns:a16="http://schemas.microsoft.com/office/drawing/2014/main" id="{F418D450-9E0B-1878-B10B-6115D4A62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110" y="122772"/>
            <a:ext cx="626097" cy="6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4">
            <a:extLst>
              <a:ext uri="{FF2B5EF4-FFF2-40B4-BE49-F238E27FC236}">
                <a16:creationId xmlns:a16="http://schemas.microsoft.com/office/drawing/2014/main" id="{8FE46F9E-512B-97C3-F8EE-FF2B3F68E68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7015567" y="3326171"/>
            <a:ext cx="48301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sz="4000" dirty="0">
                <a:solidFill>
                  <a:srgbClr val="C8362F"/>
                </a:solidFill>
              </a:rPr>
              <a:t>✗</a:t>
            </a:r>
            <a:endParaRPr lang="de-DE" sz="4000" dirty="0">
              <a:solidFill>
                <a:srgbClr val="FF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Textfeld 135">
            <a:extLst>
              <a:ext uri="{FF2B5EF4-FFF2-40B4-BE49-F238E27FC236}">
                <a16:creationId xmlns:a16="http://schemas.microsoft.com/office/drawing/2014/main" id="{B254E71C-CA8A-DF19-6332-6E268C60B3ED}"/>
              </a:ext>
            </a:extLst>
          </p:cNvPr>
          <p:cNvSpPr txBox="1"/>
          <p:nvPr/>
        </p:nvSpPr>
        <p:spPr bwMode="auto">
          <a:xfrm>
            <a:off x="3165115" y="3270009"/>
            <a:ext cx="415418" cy="6905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805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611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2224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028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8833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3639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444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5E5E5E"/>
              </a:buClr>
            </a:pPr>
            <a:r>
              <a:rPr lang="de-DE" sz="4000" dirty="0">
                <a:solidFill>
                  <a:srgbClr val="00B05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✓</a:t>
            </a:r>
          </a:p>
        </p:txBody>
      </p:sp>
      <p:sp>
        <p:nvSpPr>
          <p:cNvPr id="7" name="Textfeld 135">
            <a:extLst>
              <a:ext uri="{FF2B5EF4-FFF2-40B4-BE49-F238E27FC236}">
                <a16:creationId xmlns:a16="http://schemas.microsoft.com/office/drawing/2014/main" id="{7E93F4B4-A4D9-2F91-F5EC-1E5E2E84E324}"/>
              </a:ext>
            </a:extLst>
          </p:cNvPr>
          <p:cNvSpPr txBox="1"/>
          <p:nvPr/>
        </p:nvSpPr>
        <p:spPr bwMode="auto">
          <a:xfrm>
            <a:off x="5090341" y="3270009"/>
            <a:ext cx="415418" cy="6905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805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611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2224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028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8833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3639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444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5E5E5E"/>
              </a:buClr>
            </a:pPr>
            <a:r>
              <a:rPr lang="de-DE" sz="4000" dirty="0">
                <a:solidFill>
                  <a:srgbClr val="00B05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✓</a:t>
            </a:r>
          </a:p>
        </p:txBody>
      </p:sp>
      <p:sp>
        <p:nvSpPr>
          <p:cNvPr id="8" name="Textfeld 135">
            <a:extLst>
              <a:ext uri="{FF2B5EF4-FFF2-40B4-BE49-F238E27FC236}">
                <a16:creationId xmlns:a16="http://schemas.microsoft.com/office/drawing/2014/main" id="{7D881DF9-3DDD-4453-B0EC-4D36BC50D28E}"/>
              </a:ext>
            </a:extLst>
          </p:cNvPr>
          <p:cNvSpPr txBox="1"/>
          <p:nvPr/>
        </p:nvSpPr>
        <p:spPr bwMode="auto">
          <a:xfrm>
            <a:off x="9008389" y="3270009"/>
            <a:ext cx="415418" cy="6905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805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611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2224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028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8833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3639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444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5E5E5E"/>
              </a:buClr>
            </a:pPr>
            <a:r>
              <a:rPr lang="de-DE" sz="4000" dirty="0">
                <a:solidFill>
                  <a:srgbClr val="00B05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✓</a:t>
            </a:r>
          </a:p>
        </p:txBody>
      </p:sp>
      <p:sp>
        <p:nvSpPr>
          <p:cNvPr id="9" name="Textfeld 135">
            <a:extLst>
              <a:ext uri="{FF2B5EF4-FFF2-40B4-BE49-F238E27FC236}">
                <a16:creationId xmlns:a16="http://schemas.microsoft.com/office/drawing/2014/main" id="{9A4C79C8-3E77-73D1-7657-361C9CCB9E48}"/>
              </a:ext>
            </a:extLst>
          </p:cNvPr>
          <p:cNvSpPr txBox="1"/>
          <p:nvPr/>
        </p:nvSpPr>
        <p:spPr bwMode="auto">
          <a:xfrm>
            <a:off x="9937204" y="3270009"/>
            <a:ext cx="415418" cy="6905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805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611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2224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028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8833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3639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444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5E5E5E"/>
              </a:buClr>
            </a:pPr>
            <a:r>
              <a:rPr lang="de-DE" sz="4000" dirty="0">
                <a:solidFill>
                  <a:srgbClr val="00B05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✓</a:t>
            </a:r>
          </a:p>
        </p:txBody>
      </p:sp>
      <p:sp>
        <p:nvSpPr>
          <p:cNvPr id="11" name="Rectangle 64">
            <a:extLst>
              <a:ext uri="{FF2B5EF4-FFF2-40B4-BE49-F238E27FC236}">
                <a16:creationId xmlns:a16="http://schemas.microsoft.com/office/drawing/2014/main" id="{7E45248E-3190-7DF3-A27D-B4FC828C0D4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8011978" y="3326171"/>
            <a:ext cx="48301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sz="4000" dirty="0">
                <a:solidFill>
                  <a:srgbClr val="C8362F"/>
                </a:solidFill>
              </a:rPr>
              <a:t>✗</a:t>
            </a:r>
            <a:endParaRPr lang="de-DE" sz="4000" dirty="0">
              <a:solidFill>
                <a:srgbClr val="FF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Textfeld 135">
            <a:extLst>
              <a:ext uri="{FF2B5EF4-FFF2-40B4-BE49-F238E27FC236}">
                <a16:creationId xmlns:a16="http://schemas.microsoft.com/office/drawing/2014/main" id="{B5C355B6-B231-5795-AC91-716FD0F2B9D2}"/>
              </a:ext>
            </a:extLst>
          </p:cNvPr>
          <p:cNvSpPr txBox="1"/>
          <p:nvPr/>
        </p:nvSpPr>
        <p:spPr bwMode="auto">
          <a:xfrm>
            <a:off x="10793502" y="3270009"/>
            <a:ext cx="415418" cy="6905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805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611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2224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028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8833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3639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444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5E5E5E"/>
              </a:buClr>
            </a:pPr>
            <a:r>
              <a:rPr lang="de-DE" sz="4000" dirty="0">
                <a:solidFill>
                  <a:srgbClr val="00B05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E300E5-6AA8-DD76-85D4-D2EDE271A9C5}"/>
              </a:ext>
            </a:extLst>
          </p:cNvPr>
          <p:cNvSpPr txBox="1"/>
          <p:nvPr/>
        </p:nvSpPr>
        <p:spPr>
          <a:xfrm>
            <a:off x="491825" y="3214025"/>
            <a:ext cx="1465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Direction</a:t>
            </a:r>
          </a:p>
          <a:p>
            <a:r>
              <a:rPr lang="en-US" sz="2400" i="1" dirty="0"/>
              <a:t>check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AC904-CB11-7F06-3372-CF582EF998EF}"/>
              </a:ext>
            </a:extLst>
          </p:cNvPr>
          <p:cNvSpPr txBox="1"/>
          <p:nvPr/>
        </p:nvSpPr>
        <p:spPr>
          <a:xfrm>
            <a:off x="1530602" y="4393245"/>
            <a:ext cx="9112299" cy="23083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Reasons: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Palantir is an incredible volatile stock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input not sufficient (more parameters needed)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Market noise (news/events) are not included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Potential Weak points in the model itself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08B4D3-FC52-CEAD-598E-73FB352AA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25" y="1156952"/>
            <a:ext cx="10870285" cy="1908082"/>
          </a:xfrm>
          <a:prstGeom prst="rect">
            <a:avLst/>
          </a:prstGeom>
        </p:spPr>
      </p:pic>
      <p:sp>
        <p:nvSpPr>
          <p:cNvPr id="19" name="Textfeld 135">
            <a:extLst>
              <a:ext uri="{FF2B5EF4-FFF2-40B4-BE49-F238E27FC236}">
                <a16:creationId xmlns:a16="http://schemas.microsoft.com/office/drawing/2014/main" id="{856AE0A2-6AA1-F070-F0EF-4F176FB870CF}"/>
              </a:ext>
            </a:extLst>
          </p:cNvPr>
          <p:cNvSpPr txBox="1"/>
          <p:nvPr/>
        </p:nvSpPr>
        <p:spPr bwMode="auto">
          <a:xfrm>
            <a:off x="4127728" y="3270009"/>
            <a:ext cx="415418" cy="6905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805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611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2224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028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8833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3639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444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5E5E5E"/>
              </a:buClr>
            </a:pPr>
            <a:r>
              <a:rPr lang="de-DE" sz="4000" dirty="0">
                <a:solidFill>
                  <a:srgbClr val="00B05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✓</a:t>
            </a:r>
          </a:p>
        </p:txBody>
      </p:sp>
      <p:sp>
        <p:nvSpPr>
          <p:cNvPr id="20" name="Textfeld 135">
            <a:extLst>
              <a:ext uri="{FF2B5EF4-FFF2-40B4-BE49-F238E27FC236}">
                <a16:creationId xmlns:a16="http://schemas.microsoft.com/office/drawing/2014/main" id="{FEEC6DC4-2D31-736B-A516-8ADD8A8DF187}"/>
              </a:ext>
            </a:extLst>
          </p:cNvPr>
          <p:cNvSpPr txBox="1"/>
          <p:nvPr/>
        </p:nvSpPr>
        <p:spPr bwMode="auto">
          <a:xfrm>
            <a:off x="6086752" y="3270009"/>
            <a:ext cx="415418" cy="6905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805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611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2224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0280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88336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36392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4448" algn="l" defTabSz="896112" rtl="0" eaLnBrk="1" latinLnBrk="0" hangingPunct="1"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5E5E5E"/>
              </a:buClr>
            </a:pPr>
            <a:r>
              <a:rPr lang="de-DE" sz="4000" dirty="0">
                <a:solidFill>
                  <a:srgbClr val="00B05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✓</a:t>
            </a:r>
          </a:p>
        </p:txBody>
      </p:sp>
      <p:pic>
        <p:nvPicPr>
          <p:cNvPr id="3074" name="Picture 2" descr="caution sign picture warning 6699085 960 720 300x300 caution sign">
            <a:extLst>
              <a:ext uri="{FF2B5EF4-FFF2-40B4-BE49-F238E27FC236}">
                <a16:creationId xmlns:a16="http://schemas.microsoft.com/office/drawing/2014/main" id="{BA41633D-B1B2-68E8-A972-07E40DE0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027" y="5039750"/>
            <a:ext cx="1322595" cy="1322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6" descr="UW Logo PNG Black – OOI Regional Cabled Array">
            <a:extLst>
              <a:ext uri="{FF2B5EF4-FFF2-40B4-BE49-F238E27FC236}">
                <a16:creationId xmlns:a16="http://schemas.microsoft.com/office/drawing/2014/main" id="{EBD5B35C-3259-FECD-47DA-7BE8CFCB4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505" y="193700"/>
            <a:ext cx="719167" cy="48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680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0EBC8-41BF-96F6-7388-E0792C14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omeone is analyzing financial data on a computer.">
            <a:extLst>
              <a:ext uri="{FF2B5EF4-FFF2-40B4-BE49-F238E27FC236}">
                <a16:creationId xmlns:a16="http://schemas.microsoft.com/office/drawing/2014/main" id="{3F4E60BE-6EA1-7BE9-BCB7-7197F0B89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485" y="-21193"/>
            <a:ext cx="3881467" cy="690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2A2A3F8-B413-9439-B404-C464F5A87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60001"/>
            <a:ext cx="8958880" cy="4842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could be done better?</a:t>
            </a:r>
          </a:p>
        </p:txBody>
      </p:sp>
      <p:pic>
        <p:nvPicPr>
          <p:cNvPr id="1028" name="Picture 4" descr="Palantir logo in transparent PNG and vectorized SVG formats">
            <a:extLst>
              <a:ext uri="{FF2B5EF4-FFF2-40B4-BE49-F238E27FC236}">
                <a16:creationId xmlns:a16="http://schemas.microsoft.com/office/drawing/2014/main" id="{6C319714-859E-9E74-213A-68ED1F27D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1635" y="218141"/>
            <a:ext cx="490009" cy="62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AE644C-E1AE-5D1C-4F70-1875490D5955}"/>
              </a:ext>
            </a:extLst>
          </p:cNvPr>
          <p:cNvCxnSpPr>
            <a:cxnSpLocks/>
          </p:cNvCxnSpPr>
          <p:nvPr/>
        </p:nvCxnSpPr>
        <p:spPr>
          <a:xfrm>
            <a:off x="290486" y="2100943"/>
            <a:ext cx="36719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521D31-EB3C-1742-49D7-52AE2F96240B}"/>
              </a:ext>
            </a:extLst>
          </p:cNvPr>
          <p:cNvSpPr txBox="1"/>
          <p:nvPr/>
        </p:nvSpPr>
        <p:spPr>
          <a:xfrm>
            <a:off x="290486" y="1577723"/>
            <a:ext cx="2563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Richer Data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3A1EAA-02BF-7909-DEDC-D6CD44A1AEE2}"/>
              </a:ext>
            </a:extLst>
          </p:cNvPr>
          <p:cNvSpPr txBox="1"/>
          <p:nvPr/>
        </p:nvSpPr>
        <p:spPr>
          <a:xfrm>
            <a:off x="290486" y="2318104"/>
            <a:ext cx="34887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Company-specific signals (e.g.: earnings dates, news sentiment, insider trades)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data that reflects the market noise (Interest rates or relatable ETF’s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4FDAA3-10A5-F1C0-8EE2-AE0C5BB3378B}"/>
              </a:ext>
            </a:extLst>
          </p:cNvPr>
          <p:cNvSpPr txBox="1"/>
          <p:nvPr/>
        </p:nvSpPr>
        <p:spPr>
          <a:xfrm>
            <a:off x="4452738" y="1577723"/>
            <a:ext cx="3788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Advanced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A686C-7315-A784-DA0B-7B3F93DB1675}"/>
              </a:ext>
            </a:extLst>
          </p:cNvPr>
          <p:cNvSpPr txBox="1"/>
          <p:nvPr/>
        </p:nvSpPr>
        <p:spPr>
          <a:xfrm>
            <a:off x="4452738" y="2318104"/>
            <a:ext cx="3488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Switch to transformer and or improve the current model (hyperparameters, training time, or deeper architecture </a:t>
            </a:r>
          </a:p>
          <a:p>
            <a:endParaRPr lang="en-US" i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A2A773-A12D-6077-C858-4CB905D6370E}"/>
              </a:ext>
            </a:extLst>
          </p:cNvPr>
          <p:cNvCxnSpPr>
            <a:cxnSpLocks/>
          </p:cNvCxnSpPr>
          <p:nvPr/>
        </p:nvCxnSpPr>
        <p:spPr>
          <a:xfrm>
            <a:off x="4452738" y="2100943"/>
            <a:ext cx="37006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861F34C-C496-AAEF-DC52-FA7A3BC5B5F5}"/>
              </a:ext>
            </a:extLst>
          </p:cNvPr>
          <p:cNvSpPr txBox="1"/>
          <p:nvPr/>
        </p:nvSpPr>
        <p:spPr>
          <a:xfrm>
            <a:off x="802124" y="4569893"/>
            <a:ext cx="6538265" cy="19389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Give the LSTM </a:t>
            </a:r>
            <a:r>
              <a:rPr lang="en-US" sz="2400" b="1" dirty="0"/>
              <a:t>more meaningful </a:t>
            </a:r>
            <a:r>
              <a:rPr lang="en-US" sz="2400" dirty="0"/>
              <a:t>information about what drives price changes</a:t>
            </a:r>
          </a:p>
          <a:p>
            <a:pPr algn="ctr"/>
            <a:r>
              <a:rPr lang="en-US" sz="2400" b="1" dirty="0"/>
              <a:t>&amp;</a:t>
            </a:r>
            <a:r>
              <a:rPr lang="en-US" sz="2400" dirty="0"/>
              <a:t> </a:t>
            </a:r>
          </a:p>
          <a:p>
            <a:pPr algn="ctr"/>
            <a:r>
              <a:rPr lang="en-US" sz="2400" dirty="0"/>
              <a:t>Improve how well the model learns relationships and avoids </a:t>
            </a:r>
            <a:r>
              <a:rPr lang="en-US" sz="2400" b="1" dirty="0"/>
              <a:t>overfitting</a:t>
            </a:r>
          </a:p>
        </p:txBody>
      </p:sp>
      <p:pic>
        <p:nvPicPr>
          <p:cNvPr id="1030" name="Picture 6" descr="UW Logo PNG White – OOI Regional Cabled Array">
            <a:extLst>
              <a:ext uri="{FF2B5EF4-FFF2-40B4-BE49-F238E27FC236}">
                <a16:creationId xmlns:a16="http://schemas.microsoft.com/office/drawing/2014/main" id="{078CF0DA-EC78-5C02-07EA-757B9B4BD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0859" y="279958"/>
            <a:ext cx="746234" cy="50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5E8E2F-8CD3-548C-0952-5000A1AFD9E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493153" y="1267304"/>
            <a:ext cx="1004376" cy="884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7F2BB1-CD1E-5B35-2C0C-834B2F505C6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12238" y="1229729"/>
            <a:ext cx="879488" cy="85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1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F0F8-909F-6EA7-D251-C1FAF985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oes Palantir See Too Much? - The New York Times">
            <a:extLst>
              <a:ext uri="{FF2B5EF4-FFF2-40B4-BE49-F238E27FC236}">
                <a16:creationId xmlns:a16="http://schemas.microsoft.com/office/drawing/2014/main" id="{268AE5C0-F626-CA07-2676-71589FD6B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D8FDE2-C5E4-38D0-82DE-E7877B114E02}"/>
              </a:ext>
            </a:extLst>
          </p:cNvPr>
          <p:cNvSpPr txBox="1"/>
          <p:nvPr/>
        </p:nvSpPr>
        <p:spPr>
          <a:xfrm>
            <a:off x="5041641" y="2929039"/>
            <a:ext cx="2108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sz="3600">
                <a:solidFill>
                  <a:schemeClr val="bg1"/>
                </a:solidFill>
              </a:rPr>
              <a:t>YOU!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170" name="Picture 2" descr="UW Logo PNG White – OOI Regional Cabled Array">
            <a:extLst>
              <a:ext uri="{FF2B5EF4-FFF2-40B4-BE49-F238E27FC236}">
                <a16:creationId xmlns:a16="http://schemas.microsoft.com/office/drawing/2014/main" id="{CC2DB67C-43D4-1144-37A1-6DA31AD43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650" y="229190"/>
            <a:ext cx="1028700" cy="69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Palantir logo in transparent PNG and vectorized SVG formats">
            <a:extLst>
              <a:ext uri="{FF2B5EF4-FFF2-40B4-BE49-F238E27FC236}">
                <a16:creationId xmlns:a16="http://schemas.microsoft.com/office/drawing/2014/main" id="{396B34D3-705B-712C-CD21-9932B5A26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189" y="144943"/>
            <a:ext cx="673972" cy="86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1194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vbpYeJa0UmLEQLhANmFc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vbpYeJa0UmLEQLhANmFc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6414</TotalTime>
  <Words>561</Words>
  <Application>Microsoft Macintosh PowerPoint</Application>
  <PresentationFormat>Widescreen</PresentationFormat>
  <Paragraphs>91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Wingdings</vt:lpstr>
      <vt:lpstr>Office Theme</vt:lpstr>
      <vt:lpstr>Stock projection of Palantir</vt:lpstr>
      <vt:lpstr>Why this project?</vt:lpstr>
      <vt:lpstr>The basis: What data was used?</vt:lpstr>
      <vt:lpstr>Model walkthrough</vt:lpstr>
      <vt:lpstr>Results: good but not perfect</vt:lpstr>
      <vt:lpstr>What could be done better?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Jung</dc:creator>
  <cp:lastModifiedBy>Jens Jung</cp:lastModifiedBy>
  <cp:revision>8</cp:revision>
  <dcterms:created xsi:type="dcterms:W3CDTF">2025-11-12T19:38:26Z</dcterms:created>
  <dcterms:modified xsi:type="dcterms:W3CDTF">2025-12-09T05:31:12Z</dcterms:modified>
</cp:coreProperties>
</file>